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Bicubik" panose="02000503020000020004" charset="0"/>
      <p:regular r:id="rId14"/>
    </p:embeddedFont>
    <p:embeddedFont>
      <p:font typeface="Canva Sans" panose="020B0604020202020204" charset="0"/>
      <p:regular r:id="rId15"/>
    </p:embeddedFont>
    <p:embeddedFont>
      <p:font typeface="Canva Sa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494230" y="3203285"/>
            <a:ext cx="1466119" cy="802367"/>
          </a:xfrm>
          <a:custGeom>
            <a:avLst/>
            <a:gdLst/>
            <a:ahLst/>
            <a:cxnLst/>
            <a:rect l="l" t="t" r="r" b="b"/>
            <a:pathLst>
              <a:path w="1466119" h="802367">
                <a:moveTo>
                  <a:pt x="0" y="0"/>
                </a:moveTo>
                <a:lnTo>
                  <a:pt x="1466119" y="0"/>
                </a:lnTo>
                <a:lnTo>
                  <a:pt x="1466119" y="802367"/>
                </a:lnTo>
                <a:lnTo>
                  <a:pt x="0" y="80236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6163322" y="8930724"/>
            <a:ext cx="316219" cy="79055"/>
          </a:xfrm>
          <a:custGeom>
            <a:avLst/>
            <a:gdLst/>
            <a:ahLst/>
            <a:cxnLst/>
            <a:rect l="l" t="t" r="r" b="b"/>
            <a:pathLst>
              <a:path w="316219" h="79055">
                <a:moveTo>
                  <a:pt x="0" y="0"/>
                </a:moveTo>
                <a:lnTo>
                  <a:pt x="316220" y="0"/>
                </a:lnTo>
                <a:lnTo>
                  <a:pt x="316220" y="79055"/>
                </a:lnTo>
                <a:lnTo>
                  <a:pt x="0" y="790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1809795" y="8930724"/>
            <a:ext cx="316219" cy="79055"/>
          </a:xfrm>
          <a:custGeom>
            <a:avLst/>
            <a:gdLst/>
            <a:ahLst/>
            <a:cxnLst/>
            <a:rect l="l" t="t" r="r" b="b"/>
            <a:pathLst>
              <a:path w="316219" h="79055">
                <a:moveTo>
                  <a:pt x="0" y="0"/>
                </a:moveTo>
                <a:lnTo>
                  <a:pt x="316219" y="0"/>
                </a:lnTo>
                <a:lnTo>
                  <a:pt x="316219" y="79055"/>
                </a:lnTo>
                <a:lnTo>
                  <a:pt x="0" y="790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295640" y="3203285"/>
            <a:ext cx="1466119" cy="802367"/>
          </a:xfrm>
          <a:custGeom>
            <a:avLst/>
            <a:gdLst/>
            <a:ahLst/>
            <a:cxnLst/>
            <a:rect l="l" t="t" r="r" b="b"/>
            <a:pathLst>
              <a:path w="1466119" h="802367">
                <a:moveTo>
                  <a:pt x="0" y="0"/>
                </a:moveTo>
                <a:lnTo>
                  <a:pt x="1466120" y="0"/>
                </a:lnTo>
                <a:lnTo>
                  <a:pt x="1466120" y="802367"/>
                </a:lnTo>
                <a:lnTo>
                  <a:pt x="0" y="80236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TextBox 6"/>
          <p:cNvSpPr txBox="1"/>
          <p:nvPr/>
        </p:nvSpPr>
        <p:spPr>
          <a:xfrm>
            <a:off x="1447800" y="6668449"/>
            <a:ext cx="15773400" cy="859210"/>
          </a:xfrm>
          <a:prstGeom prst="rect">
            <a:avLst/>
          </a:prstGeom>
        </p:spPr>
        <p:txBody>
          <a:bodyPr wrap="square" lIns="0" tIns="0" rIns="0" bIns="0" rtlCol="0" anchor="t">
            <a:spAutoFit/>
          </a:bodyPr>
          <a:lstStyle/>
          <a:p>
            <a:pPr algn="ctr">
              <a:lnSpc>
                <a:spcPts val="6719"/>
              </a:lnSpc>
              <a:spcBef>
                <a:spcPct val="0"/>
              </a:spcBef>
            </a:pPr>
            <a:r>
              <a:rPr lang="en-US" sz="5600" b="1" i="1" dirty="0">
                <a:solidFill>
                  <a:srgbClr val="000000"/>
                </a:solidFill>
                <a:latin typeface="Times New Roman" panose="02020603050405020304" pitchFamily="18" charset="0"/>
                <a:ea typeface="Bicubik"/>
                <a:cs typeface="Times New Roman" panose="02020603050405020304" pitchFamily="18" charset="0"/>
                <a:sym typeface="Bicubik"/>
              </a:rPr>
              <a:t>SUPERVISED &amp; UNSUPERVISED LEARNING</a:t>
            </a:r>
          </a:p>
        </p:txBody>
      </p:sp>
      <p:sp>
        <p:nvSpPr>
          <p:cNvPr id="7" name="TextBox 7"/>
          <p:cNvSpPr txBox="1"/>
          <p:nvPr/>
        </p:nvSpPr>
        <p:spPr>
          <a:xfrm>
            <a:off x="1761759" y="1658756"/>
            <a:ext cx="14316441" cy="2343655"/>
          </a:xfrm>
          <a:prstGeom prst="rect">
            <a:avLst/>
          </a:prstGeom>
        </p:spPr>
        <p:txBody>
          <a:bodyPr wrap="square" lIns="0" tIns="0" rIns="0" bIns="0" rtlCol="0" anchor="t">
            <a:spAutoFit/>
          </a:bodyPr>
          <a:lstStyle/>
          <a:p>
            <a:pPr algn="ctr">
              <a:lnSpc>
                <a:spcPct val="150000"/>
              </a:lnSpc>
            </a:pPr>
            <a:r>
              <a:rPr lang="en-US" sz="5400" b="1" dirty="0">
                <a:solidFill>
                  <a:srgbClr val="000000"/>
                </a:solidFill>
                <a:latin typeface="Times New Roman" panose="02020603050405020304" pitchFamily="18" charset="0"/>
                <a:ea typeface="Canva Sans"/>
                <a:cs typeface="Times New Roman" panose="02020603050405020304" pitchFamily="18" charset="0"/>
                <a:sym typeface="Canva Sans"/>
              </a:rPr>
              <a:t>STUDENT PERFORMANCE INTELLIGENCE &amp; RISK PREDICTION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3431" y="1023966"/>
            <a:ext cx="13135802" cy="452047"/>
          </a:xfrm>
          <a:prstGeom prst="rect">
            <a:avLst/>
          </a:prstGeom>
        </p:spPr>
        <p:txBody>
          <a:bodyPr lIns="0" tIns="0" rIns="0" bIns="0" rtlCol="0" anchor="t">
            <a:spAutoFit/>
          </a:bodyPr>
          <a:lstStyle/>
          <a:p>
            <a:pPr algn="l">
              <a:lnSpc>
                <a:spcPts val="3240"/>
              </a:lnSpc>
            </a:pPr>
            <a:r>
              <a:rPr lang="en-US" sz="4800" b="1" dirty="0">
                <a:solidFill>
                  <a:srgbClr val="000000"/>
                </a:solidFill>
                <a:latin typeface="Times New Roman" panose="02020603050405020304" pitchFamily="18" charset="0"/>
                <a:ea typeface="Bicubik"/>
                <a:cs typeface="Times New Roman" panose="02020603050405020304" pitchFamily="18" charset="0"/>
                <a:sym typeface="Bicubik"/>
              </a:rPr>
              <a:t>PROBLEM STATEMENT</a:t>
            </a:r>
          </a:p>
        </p:txBody>
      </p:sp>
      <p:sp>
        <p:nvSpPr>
          <p:cNvPr id="3" name="TextBox 3"/>
          <p:cNvSpPr txBox="1"/>
          <p:nvPr/>
        </p:nvSpPr>
        <p:spPr>
          <a:xfrm>
            <a:off x="978683" y="1720575"/>
            <a:ext cx="16151569" cy="7570727"/>
          </a:xfrm>
          <a:prstGeom prst="rect">
            <a:avLst/>
          </a:prstGeom>
        </p:spPr>
        <p:txBody>
          <a:bodyPr wrap="square" lIns="0" tIns="0" rIns="0" bIns="0" rtlCol="0" anchor="t">
            <a:spAutoFit/>
          </a:bodyPr>
          <a:lstStyle/>
          <a:p>
            <a:pPr algn="l">
              <a:lnSpc>
                <a:spcPts val="3855"/>
              </a:lnSpc>
            </a:pPr>
            <a:r>
              <a:rPr lang="en-US" sz="2800" spc="-110" dirty="0">
                <a:solidFill>
                  <a:srgbClr val="000000"/>
                </a:solidFill>
                <a:latin typeface="Canva Sans"/>
                <a:ea typeface="Canva Sans"/>
                <a:cs typeface="Canva Sans"/>
                <a:sym typeface="Canva Sans"/>
              </a:rPr>
              <a:t>Students' academic performance depends on multiple factors, but it is difficult to manually analyze their impact. There is a need for an automated system that can predict student performance based on available data. Predicting student academic performance is important for identifying learning gaps and helping students improve. In this project, we aim to predict the Expected Final Grade of students using supervised learning techniques. Multiple models are implemented and compared to identify the most effective approach.</a:t>
            </a:r>
          </a:p>
          <a:p>
            <a:pPr algn="l">
              <a:lnSpc>
                <a:spcPts val="3855"/>
              </a:lnSpc>
            </a:pPr>
            <a:endParaRPr lang="en-US" sz="2753" spc="-110" dirty="0">
              <a:solidFill>
                <a:srgbClr val="000000"/>
              </a:solidFill>
              <a:latin typeface="Canva Sans"/>
              <a:ea typeface="Canva Sans"/>
              <a:cs typeface="Canva Sans"/>
              <a:sym typeface="Canva Sans"/>
            </a:endParaRPr>
          </a:p>
          <a:p>
            <a:pPr algn="l">
              <a:lnSpc>
                <a:spcPts val="4695"/>
              </a:lnSpc>
            </a:pPr>
            <a:r>
              <a:rPr lang="en-US" sz="4800" b="1" spc="-134" dirty="0">
                <a:solidFill>
                  <a:srgbClr val="000000"/>
                </a:solidFill>
                <a:latin typeface="Times New Roman" panose="02020603050405020304" pitchFamily="18" charset="0"/>
                <a:ea typeface="Bicubik"/>
                <a:cs typeface="Times New Roman" panose="02020603050405020304" pitchFamily="18" charset="0"/>
                <a:sym typeface="Bicubik"/>
              </a:rPr>
              <a:t>WHY WE CHOOSE THIS PROJECT?</a:t>
            </a:r>
          </a:p>
          <a:p>
            <a:pPr algn="l">
              <a:lnSpc>
                <a:spcPts val="3855"/>
              </a:lnSpc>
            </a:pPr>
            <a:endParaRPr lang="en-US" sz="3353" spc="-134" dirty="0">
              <a:solidFill>
                <a:srgbClr val="000000"/>
              </a:solidFill>
              <a:latin typeface="Bicubik"/>
              <a:ea typeface="Bicubik"/>
              <a:cs typeface="Bicubik"/>
              <a:sym typeface="Bicubik"/>
            </a:endParaRPr>
          </a:p>
          <a:p>
            <a:pPr algn="l">
              <a:lnSpc>
                <a:spcPts val="3855"/>
              </a:lnSpc>
            </a:pPr>
            <a:r>
              <a:rPr lang="en-US" sz="2753" spc="-110" dirty="0">
                <a:solidFill>
                  <a:srgbClr val="000000"/>
                </a:solidFill>
                <a:latin typeface="Canva Sans"/>
                <a:ea typeface="Canva Sans"/>
                <a:cs typeface="Canva Sans"/>
                <a:sym typeface="Canva Sans"/>
              </a:rPr>
              <a:t>So, we built a system that:</a:t>
            </a:r>
          </a:p>
          <a:p>
            <a:pPr marL="594577" lvl="1" indent="-297289" algn="l">
              <a:lnSpc>
                <a:spcPts val="3855"/>
              </a:lnSpc>
              <a:buFont typeface="Arial"/>
              <a:buChar char="•"/>
            </a:pPr>
            <a:r>
              <a:rPr lang="en-US" sz="2753" spc="-110" dirty="0">
                <a:solidFill>
                  <a:srgbClr val="000000"/>
                </a:solidFill>
                <a:latin typeface="Canva Sans"/>
                <a:ea typeface="Canva Sans"/>
                <a:cs typeface="Canva Sans"/>
                <a:sym typeface="Canva Sans"/>
              </a:rPr>
              <a:t>Predicts academic performance</a:t>
            </a:r>
          </a:p>
          <a:p>
            <a:pPr marL="594577" lvl="1" indent="-297289" algn="l">
              <a:lnSpc>
                <a:spcPts val="3855"/>
              </a:lnSpc>
              <a:buFont typeface="Arial"/>
              <a:buChar char="•"/>
            </a:pPr>
            <a:r>
              <a:rPr lang="en-US" sz="2753" spc="-110" dirty="0">
                <a:solidFill>
                  <a:srgbClr val="000000"/>
                </a:solidFill>
                <a:latin typeface="Canva Sans"/>
                <a:ea typeface="Canva Sans"/>
                <a:cs typeface="Canva Sans"/>
                <a:sym typeface="Canva Sans"/>
              </a:rPr>
              <a:t>Identifies behavioral risks</a:t>
            </a:r>
          </a:p>
          <a:p>
            <a:pPr algn="l">
              <a:lnSpc>
                <a:spcPts val="3855"/>
              </a:lnSpc>
            </a:pPr>
            <a:endParaRPr lang="en-US" sz="2753" spc="-110" dirty="0">
              <a:solidFill>
                <a:srgbClr val="000000"/>
              </a:solidFill>
              <a:latin typeface="Canva Sans"/>
              <a:ea typeface="Canva Sans"/>
              <a:cs typeface="Canva Sans"/>
              <a:sym typeface="Canva Sans"/>
            </a:endParaRPr>
          </a:p>
          <a:p>
            <a:pPr algn="l">
              <a:lnSpc>
                <a:spcPts val="3855"/>
              </a:lnSpc>
            </a:pPr>
            <a:r>
              <a:rPr lang="en-US" sz="2753" b="1" spc="-110" dirty="0">
                <a:solidFill>
                  <a:srgbClr val="000000"/>
                </a:solidFill>
                <a:latin typeface="Canva Sans Bold"/>
                <a:ea typeface="Canva Sans Bold"/>
                <a:cs typeface="Canva Sans Bold"/>
                <a:sym typeface="Canva Sans Bold"/>
              </a:rPr>
              <a:t>The goal is to move from result-based analysis to behavior-based intelligence.</a:t>
            </a:r>
          </a:p>
          <a:p>
            <a:pPr algn="l">
              <a:lnSpc>
                <a:spcPts val="3855"/>
              </a:lnSpc>
            </a:pPr>
            <a:endParaRPr lang="en-US" sz="2753" b="1" spc="-110" dirty="0">
              <a:solidFill>
                <a:srgbClr val="000000"/>
              </a:solidFill>
              <a:latin typeface="Canva Sans Bold"/>
              <a:ea typeface="Canva Sans Bold"/>
              <a:cs typeface="Canva Sans Bold"/>
              <a:sym typeface="Canva Sa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1000" y="1181100"/>
            <a:ext cx="8763000" cy="7543800"/>
          </a:xfrm>
          <a:custGeom>
            <a:avLst/>
            <a:gdLst/>
            <a:ahLst/>
            <a:cxnLst/>
            <a:rect l="l" t="t" r="r" b="b"/>
            <a:pathLst>
              <a:path w="10892527" h="8900169">
                <a:moveTo>
                  <a:pt x="0" y="0"/>
                </a:moveTo>
                <a:lnTo>
                  <a:pt x="10892528" y="0"/>
                </a:lnTo>
                <a:lnTo>
                  <a:pt x="10892528" y="8900170"/>
                </a:lnTo>
                <a:lnTo>
                  <a:pt x="0" y="8900170"/>
                </a:lnTo>
                <a:lnTo>
                  <a:pt x="0" y="0"/>
                </a:lnTo>
                <a:close/>
              </a:path>
            </a:pathLst>
          </a:custGeom>
          <a:blipFill>
            <a:blip r:embed="rId2"/>
            <a:stretch>
              <a:fillRect/>
            </a:stretch>
          </a:blipFill>
        </p:spPr>
        <p:txBody>
          <a:bodyPr/>
          <a:lstStyle/>
          <a:p>
            <a:endParaRPr lang="en-IN"/>
          </a:p>
        </p:txBody>
      </p:sp>
      <p:pic>
        <p:nvPicPr>
          <p:cNvPr id="4" name="Picture 3">
            <a:extLst>
              <a:ext uri="{FF2B5EF4-FFF2-40B4-BE49-F238E27FC236}">
                <a16:creationId xmlns:a16="http://schemas.microsoft.com/office/drawing/2014/main" id="{F4AF7947-D059-3A95-08A1-4135CA356AEE}"/>
              </a:ext>
            </a:extLst>
          </p:cNvPr>
          <p:cNvPicPr>
            <a:picLocks noChangeAspect="1"/>
          </p:cNvPicPr>
          <p:nvPr/>
        </p:nvPicPr>
        <p:blipFill>
          <a:blip r:embed="rId3"/>
          <a:stretch>
            <a:fillRect/>
          </a:stretch>
        </p:blipFill>
        <p:spPr>
          <a:xfrm>
            <a:off x="9416845" y="1371600"/>
            <a:ext cx="8458200" cy="7543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40678" y="726560"/>
            <a:ext cx="16871695" cy="452047"/>
          </a:xfrm>
          <a:prstGeom prst="rect">
            <a:avLst/>
          </a:prstGeom>
        </p:spPr>
        <p:txBody>
          <a:bodyPr lIns="0" tIns="0" rIns="0" bIns="0" rtlCol="0" anchor="t">
            <a:spAutoFit/>
          </a:bodyPr>
          <a:lstStyle/>
          <a:p>
            <a:pPr algn="l">
              <a:lnSpc>
                <a:spcPts val="3240"/>
              </a:lnSpc>
            </a:pPr>
            <a:r>
              <a:rPr lang="en-US" sz="4800" b="1" dirty="0">
                <a:solidFill>
                  <a:srgbClr val="000000"/>
                </a:solidFill>
                <a:latin typeface="Times New Roman" panose="02020603050405020304" pitchFamily="18" charset="0"/>
                <a:ea typeface="Bicubik"/>
                <a:cs typeface="Times New Roman" panose="02020603050405020304" pitchFamily="18" charset="0"/>
                <a:sym typeface="Bicubik"/>
              </a:rPr>
              <a:t>DATA CLEANING &amp; PREPROCESSING</a:t>
            </a:r>
          </a:p>
        </p:txBody>
      </p:sp>
      <p:sp>
        <p:nvSpPr>
          <p:cNvPr id="3" name="TextBox 3"/>
          <p:cNvSpPr txBox="1"/>
          <p:nvPr/>
        </p:nvSpPr>
        <p:spPr>
          <a:xfrm>
            <a:off x="833304" y="1581007"/>
            <a:ext cx="8691696" cy="3182474"/>
          </a:xfrm>
          <a:prstGeom prst="rect">
            <a:avLst/>
          </a:prstGeom>
        </p:spPr>
        <p:txBody>
          <a:bodyPr wrap="square" lIns="0" tIns="0" rIns="0" bIns="0" rtlCol="0" anchor="t">
            <a:spAutoFit/>
          </a:bodyPr>
          <a:lstStyle/>
          <a:p>
            <a:pPr algn="l">
              <a:lnSpc>
                <a:spcPct val="150000"/>
              </a:lnSpc>
            </a:pPr>
            <a:r>
              <a:rPr lang="en-US" sz="2000" spc="-67" dirty="0">
                <a:solidFill>
                  <a:srgbClr val="000000"/>
                </a:solidFill>
                <a:latin typeface="Canva Sans"/>
                <a:ea typeface="Canva Sans"/>
                <a:cs typeface="Canva Sans"/>
                <a:sym typeface="Canva Sans"/>
              </a:rPr>
              <a:t>1. Handling Missing Values</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Identified missing data in key features like backlogs, CGPA, attendance, etc.</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Filled missing values using:</a:t>
            </a:r>
          </a:p>
          <a:p>
            <a:pPr marL="734058" lvl="2" indent="-244686" algn="l">
              <a:lnSpc>
                <a:spcPct val="150000"/>
              </a:lnSpc>
              <a:buFont typeface="Arial"/>
              <a:buChar char="⚬"/>
            </a:pPr>
            <a:r>
              <a:rPr lang="en-US" sz="2000" spc="-67" dirty="0">
                <a:solidFill>
                  <a:srgbClr val="000000"/>
                </a:solidFill>
                <a:latin typeface="Canva Sans"/>
                <a:ea typeface="Canva Sans"/>
                <a:cs typeface="Canva Sans"/>
                <a:sym typeface="Canva Sans"/>
              </a:rPr>
              <a:t>Mode → for categorical/discrete data (e.g., number of backlogs)</a:t>
            </a:r>
          </a:p>
          <a:p>
            <a:pPr marL="734058" lvl="2" indent="-244686" algn="l">
              <a:lnSpc>
                <a:spcPct val="150000"/>
              </a:lnSpc>
              <a:buFont typeface="Arial"/>
              <a:buChar char="⚬"/>
            </a:pPr>
            <a:r>
              <a:rPr lang="en-US" sz="2000" spc="-67" dirty="0">
                <a:solidFill>
                  <a:srgbClr val="000000"/>
                </a:solidFill>
                <a:latin typeface="Canva Sans"/>
                <a:ea typeface="Canva Sans"/>
                <a:cs typeface="Canva Sans"/>
                <a:sym typeface="Canva Sans"/>
              </a:rPr>
              <a:t>Mean → for numerical features (e.g., CGPA, study hours, sleep hours)</a:t>
            </a:r>
          </a:p>
          <a:p>
            <a:pPr algn="l">
              <a:lnSpc>
                <a:spcPct val="150000"/>
              </a:lnSpc>
            </a:pPr>
            <a:endParaRPr lang="en-US" sz="2000" spc="-67" dirty="0">
              <a:solidFill>
                <a:srgbClr val="000000"/>
              </a:solidFill>
              <a:latin typeface="Canva Sans"/>
              <a:ea typeface="Canva Sans"/>
              <a:cs typeface="Canva Sans"/>
              <a:sym typeface="Canva Sans"/>
            </a:endParaRPr>
          </a:p>
        </p:txBody>
      </p:sp>
      <p:sp>
        <p:nvSpPr>
          <p:cNvPr id="4" name="TextBox 4"/>
          <p:cNvSpPr txBox="1"/>
          <p:nvPr/>
        </p:nvSpPr>
        <p:spPr>
          <a:xfrm>
            <a:off x="840678" y="4511509"/>
            <a:ext cx="8684322" cy="1797480"/>
          </a:xfrm>
          <a:prstGeom prst="rect">
            <a:avLst/>
          </a:prstGeom>
        </p:spPr>
        <p:txBody>
          <a:bodyPr wrap="square" lIns="0" tIns="0" rIns="0" bIns="0" rtlCol="0" anchor="t">
            <a:spAutoFit/>
          </a:bodyPr>
          <a:lstStyle/>
          <a:p>
            <a:pPr algn="l">
              <a:lnSpc>
                <a:spcPct val="150000"/>
              </a:lnSpc>
            </a:pPr>
            <a:r>
              <a:rPr lang="en-US" sz="2000" spc="-67" dirty="0">
                <a:solidFill>
                  <a:srgbClr val="000000"/>
                </a:solidFill>
                <a:latin typeface="Canva Sans"/>
                <a:ea typeface="Canva Sans"/>
                <a:cs typeface="Canva Sans"/>
                <a:sym typeface="Canva Sans"/>
              </a:rPr>
              <a:t>2. Removing Irrelevant Data</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Dropped unnecessary columns (e.g., Score)</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Ensured dataset only contains meaningful features for prediction</a:t>
            </a:r>
          </a:p>
          <a:p>
            <a:pPr algn="l">
              <a:lnSpc>
                <a:spcPct val="150000"/>
              </a:lnSpc>
            </a:pPr>
            <a:endParaRPr lang="en-US" sz="2000" spc="-67" dirty="0">
              <a:solidFill>
                <a:srgbClr val="000000"/>
              </a:solidFill>
              <a:latin typeface="Canva Sans"/>
              <a:ea typeface="Canva Sans"/>
              <a:cs typeface="Canva Sans"/>
              <a:sym typeface="Canva Sans"/>
            </a:endParaRPr>
          </a:p>
        </p:txBody>
      </p:sp>
      <p:sp>
        <p:nvSpPr>
          <p:cNvPr id="5" name="TextBox 5"/>
          <p:cNvSpPr txBox="1"/>
          <p:nvPr/>
        </p:nvSpPr>
        <p:spPr>
          <a:xfrm>
            <a:off x="833304" y="6261057"/>
            <a:ext cx="8691696" cy="1797480"/>
          </a:xfrm>
          <a:prstGeom prst="rect">
            <a:avLst/>
          </a:prstGeom>
        </p:spPr>
        <p:txBody>
          <a:bodyPr wrap="square" lIns="0" tIns="0" rIns="0" bIns="0" rtlCol="0" anchor="t">
            <a:spAutoFit/>
          </a:bodyPr>
          <a:lstStyle/>
          <a:p>
            <a:pPr algn="l">
              <a:lnSpc>
                <a:spcPct val="150000"/>
              </a:lnSpc>
            </a:pPr>
            <a:r>
              <a:rPr lang="en-US" sz="2000" spc="-67" dirty="0">
                <a:solidFill>
                  <a:srgbClr val="000000"/>
                </a:solidFill>
                <a:latin typeface="Canva Sans"/>
                <a:ea typeface="Canva Sans"/>
                <a:cs typeface="Canva Sans"/>
                <a:sym typeface="Canva Sans"/>
              </a:rPr>
              <a:t>3. Standardizing Column Names</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Cleaned column names by removing extra spaces</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Ensured consistency for easier processing and model training</a:t>
            </a:r>
          </a:p>
          <a:p>
            <a:pPr algn="l">
              <a:lnSpc>
                <a:spcPct val="150000"/>
              </a:lnSpc>
            </a:pPr>
            <a:endParaRPr lang="en-US" sz="2000" spc="-67" dirty="0">
              <a:solidFill>
                <a:srgbClr val="000000"/>
              </a:solidFill>
              <a:latin typeface="Canva Sans"/>
              <a:ea typeface="Canva Sans"/>
              <a:cs typeface="Canva Sans"/>
              <a:sym typeface="Canva Sans"/>
            </a:endParaRPr>
          </a:p>
        </p:txBody>
      </p:sp>
      <p:sp>
        <p:nvSpPr>
          <p:cNvPr id="6" name="TextBox 6"/>
          <p:cNvSpPr txBox="1"/>
          <p:nvPr/>
        </p:nvSpPr>
        <p:spPr>
          <a:xfrm>
            <a:off x="843136" y="7964876"/>
            <a:ext cx="7398780" cy="1335815"/>
          </a:xfrm>
          <a:prstGeom prst="rect">
            <a:avLst/>
          </a:prstGeom>
        </p:spPr>
        <p:txBody>
          <a:bodyPr lIns="0" tIns="0" rIns="0" bIns="0" rtlCol="0" anchor="t">
            <a:spAutoFit/>
          </a:bodyPr>
          <a:lstStyle/>
          <a:p>
            <a:pPr algn="l">
              <a:lnSpc>
                <a:spcPct val="150000"/>
              </a:lnSpc>
            </a:pPr>
            <a:r>
              <a:rPr lang="en-US" sz="2000" spc="-67" dirty="0">
                <a:solidFill>
                  <a:srgbClr val="000000"/>
                </a:solidFill>
                <a:latin typeface="Canva Sans"/>
                <a:ea typeface="Canva Sans"/>
                <a:cs typeface="Canva Sans"/>
                <a:sym typeface="Canva Sans"/>
              </a:rPr>
              <a:t>4. Cleaning Attendance Data</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Extracted numeric values from inconsistent formats (e.g., “80%”, “0.8”)</a:t>
            </a:r>
          </a:p>
        </p:txBody>
      </p:sp>
      <p:sp>
        <p:nvSpPr>
          <p:cNvPr id="7" name="TextBox 7"/>
          <p:cNvSpPr txBox="1"/>
          <p:nvPr/>
        </p:nvSpPr>
        <p:spPr>
          <a:xfrm>
            <a:off x="9675162" y="2823885"/>
            <a:ext cx="8034753" cy="2720809"/>
          </a:xfrm>
          <a:prstGeom prst="rect">
            <a:avLst/>
          </a:prstGeom>
        </p:spPr>
        <p:txBody>
          <a:bodyPr wrap="square" lIns="0" tIns="0" rIns="0" bIns="0" rtlCol="0" anchor="t">
            <a:spAutoFit/>
          </a:bodyPr>
          <a:lstStyle/>
          <a:p>
            <a:pPr algn="l">
              <a:lnSpc>
                <a:spcPct val="150000"/>
              </a:lnSpc>
            </a:pPr>
            <a:r>
              <a:rPr lang="en-US" sz="2000" spc="-67" dirty="0">
                <a:solidFill>
                  <a:srgbClr val="000000"/>
                </a:solidFill>
                <a:latin typeface="Canva Sans"/>
                <a:ea typeface="Canva Sans"/>
                <a:cs typeface="Canva Sans"/>
                <a:sym typeface="Canva Sans"/>
              </a:rPr>
              <a:t>5. Converting Range Values</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Some inputs were given as ranges (e.g., “3–5 hours”)</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Converted them into a single representative value (average of range)</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Ensured all features are numeric and usable for ML models</a:t>
            </a:r>
          </a:p>
          <a:p>
            <a:pPr algn="l">
              <a:lnSpc>
                <a:spcPct val="150000"/>
              </a:lnSpc>
            </a:pPr>
            <a:endParaRPr lang="en-US" sz="2000" spc="-67" dirty="0">
              <a:solidFill>
                <a:srgbClr val="000000"/>
              </a:solidFill>
              <a:latin typeface="Canva Sans"/>
              <a:ea typeface="Canva Sans"/>
              <a:cs typeface="Canva Sans"/>
              <a:sym typeface="Canva Sans"/>
            </a:endParaRPr>
          </a:p>
        </p:txBody>
      </p:sp>
      <p:sp>
        <p:nvSpPr>
          <p:cNvPr id="8" name="TextBox 8"/>
          <p:cNvSpPr txBox="1"/>
          <p:nvPr/>
        </p:nvSpPr>
        <p:spPr>
          <a:xfrm>
            <a:off x="9660414" y="7451869"/>
            <a:ext cx="7794282" cy="2720809"/>
          </a:xfrm>
          <a:prstGeom prst="rect">
            <a:avLst/>
          </a:prstGeom>
        </p:spPr>
        <p:txBody>
          <a:bodyPr wrap="square" lIns="0" tIns="0" rIns="0" bIns="0" rtlCol="0" anchor="t">
            <a:spAutoFit/>
          </a:bodyPr>
          <a:lstStyle/>
          <a:p>
            <a:pPr algn="l">
              <a:lnSpc>
                <a:spcPct val="150000"/>
              </a:lnSpc>
            </a:pPr>
            <a:r>
              <a:rPr lang="en-US" sz="2000" spc="-67" dirty="0">
                <a:solidFill>
                  <a:srgbClr val="000000"/>
                </a:solidFill>
                <a:latin typeface="Canva Sans"/>
                <a:ea typeface="Canva Sans"/>
                <a:cs typeface="Canva Sans"/>
                <a:sym typeface="Canva Sans"/>
              </a:rPr>
              <a:t>7. Data Ready for Modeling </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All features converted into numerical format</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No missing or inconsistent data</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Dataset is now structured and ready for machine learning algorithms</a:t>
            </a:r>
          </a:p>
          <a:p>
            <a:pPr algn="l">
              <a:lnSpc>
                <a:spcPct val="150000"/>
              </a:lnSpc>
            </a:pPr>
            <a:endParaRPr lang="en-US" sz="2000" spc="-67" dirty="0">
              <a:solidFill>
                <a:srgbClr val="000000"/>
              </a:solidFill>
              <a:latin typeface="Canva Sans"/>
              <a:ea typeface="Canva Sans"/>
              <a:cs typeface="Canva Sans"/>
              <a:sym typeface="Canva Sans"/>
            </a:endParaRPr>
          </a:p>
        </p:txBody>
      </p:sp>
      <p:sp>
        <p:nvSpPr>
          <p:cNvPr id="9" name="TextBox 9"/>
          <p:cNvSpPr txBox="1"/>
          <p:nvPr/>
        </p:nvSpPr>
        <p:spPr>
          <a:xfrm>
            <a:off x="9689910" y="5368709"/>
            <a:ext cx="8034753" cy="2259145"/>
          </a:xfrm>
          <a:prstGeom prst="rect">
            <a:avLst/>
          </a:prstGeom>
        </p:spPr>
        <p:txBody>
          <a:bodyPr wrap="square" lIns="0" tIns="0" rIns="0" bIns="0" rtlCol="0" anchor="t">
            <a:spAutoFit/>
          </a:bodyPr>
          <a:lstStyle/>
          <a:p>
            <a:pPr algn="l">
              <a:lnSpc>
                <a:spcPct val="150000"/>
              </a:lnSpc>
            </a:pPr>
            <a:r>
              <a:rPr lang="en-US" sz="2000" spc="-67" dirty="0">
                <a:solidFill>
                  <a:srgbClr val="000000"/>
                </a:solidFill>
                <a:latin typeface="Canva Sans"/>
                <a:ea typeface="Canva Sans"/>
                <a:cs typeface="Canva Sans"/>
                <a:sym typeface="Canva Sans"/>
              </a:rPr>
              <a:t>6. Final Missing Value Treatment</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Rechecked dataset for null values</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Filled remaining missing entries using mean values</a:t>
            </a:r>
          </a:p>
          <a:p>
            <a:pPr marL="367029" lvl="1" indent="-183514" algn="l">
              <a:lnSpc>
                <a:spcPct val="150000"/>
              </a:lnSpc>
              <a:buFont typeface="Arial"/>
              <a:buChar char="•"/>
            </a:pPr>
            <a:r>
              <a:rPr lang="en-US" sz="2000" spc="-67" dirty="0">
                <a:solidFill>
                  <a:srgbClr val="000000"/>
                </a:solidFill>
                <a:latin typeface="Canva Sans"/>
                <a:ea typeface="Canva Sans"/>
                <a:cs typeface="Canva Sans"/>
                <a:sym typeface="Canva Sans"/>
              </a:rPr>
              <a:t>Ensured a complete and clean dataset</a:t>
            </a:r>
          </a:p>
          <a:p>
            <a:pPr algn="l">
              <a:lnSpc>
                <a:spcPct val="150000"/>
              </a:lnSpc>
            </a:pPr>
            <a:endParaRPr lang="en-US" sz="2000" spc="-67" dirty="0">
              <a:solidFill>
                <a:srgbClr val="000000"/>
              </a:solidFill>
              <a:latin typeface="Canva Sans"/>
              <a:ea typeface="Canva Sans"/>
              <a:cs typeface="Canva Sans"/>
              <a:sym typeface="Canva Sans"/>
            </a:endParaRPr>
          </a:p>
        </p:txBody>
      </p:sp>
      <p:sp>
        <p:nvSpPr>
          <p:cNvPr id="10" name="Rectangle 9">
            <a:extLst>
              <a:ext uri="{FF2B5EF4-FFF2-40B4-BE49-F238E27FC236}">
                <a16:creationId xmlns:a16="http://schemas.microsoft.com/office/drawing/2014/main" id="{C61E1E0F-714A-6123-3664-4873636DA352}"/>
              </a:ext>
            </a:extLst>
          </p:cNvPr>
          <p:cNvSpPr/>
          <p:nvPr/>
        </p:nvSpPr>
        <p:spPr>
          <a:xfrm>
            <a:off x="9468464" y="1389633"/>
            <a:ext cx="7929696" cy="12645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67029" lvl="1" indent="-183514">
              <a:lnSpc>
                <a:spcPct val="150000"/>
              </a:lnSpc>
              <a:buFont typeface="Arial"/>
              <a:buChar char="•"/>
            </a:pPr>
            <a:endParaRPr lang="en-US" sz="2000" spc="-67" dirty="0">
              <a:solidFill>
                <a:srgbClr val="000000"/>
              </a:solidFill>
              <a:latin typeface="Canva Sans"/>
              <a:ea typeface="Canva Sans"/>
              <a:cs typeface="Canva Sans"/>
              <a:sym typeface="Canva Sans"/>
            </a:endParaRPr>
          </a:p>
          <a:p>
            <a:pPr marL="367029" lvl="1" indent="-183514">
              <a:lnSpc>
                <a:spcPct val="150000"/>
              </a:lnSpc>
              <a:buFont typeface="Arial"/>
              <a:buChar char="•"/>
            </a:pPr>
            <a:r>
              <a:rPr lang="en-US" sz="2000" spc="-67" dirty="0">
                <a:solidFill>
                  <a:srgbClr val="000000"/>
                </a:solidFill>
                <a:latin typeface="Canva Sans"/>
                <a:ea typeface="Canva Sans"/>
                <a:cs typeface="Canva Sans"/>
                <a:sym typeface="Canva Sans"/>
              </a:rPr>
              <a:t>Converted all values into a uniform percentage format (0–100)</a:t>
            </a:r>
          </a:p>
          <a:p>
            <a:pPr marL="367029" lvl="1" indent="-183514">
              <a:lnSpc>
                <a:spcPct val="150000"/>
              </a:lnSpc>
              <a:buFont typeface="Arial"/>
              <a:buChar char="•"/>
            </a:pPr>
            <a:r>
              <a:rPr lang="en-US" sz="2000" spc="-67" dirty="0">
                <a:solidFill>
                  <a:srgbClr val="000000"/>
                </a:solidFill>
                <a:latin typeface="Canva Sans"/>
                <a:ea typeface="Canva Sans"/>
                <a:cs typeface="Canva Sans"/>
                <a:sym typeface="Canva Sans"/>
              </a:rPr>
              <a:t>Handled invalid/missing entries using average values</a:t>
            </a:r>
          </a:p>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4579216"/>
            <a:ext cx="6792516" cy="4907684"/>
          </a:xfrm>
          <a:custGeom>
            <a:avLst/>
            <a:gdLst/>
            <a:ahLst/>
            <a:cxnLst/>
            <a:rect l="l" t="t" r="r" b="b"/>
            <a:pathLst>
              <a:path w="5204097" h="4210685">
                <a:moveTo>
                  <a:pt x="0" y="0"/>
                </a:moveTo>
                <a:lnTo>
                  <a:pt x="5204097" y="0"/>
                </a:lnTo>
                <a:lnTo>
                  <a:pt x="5204097" y="4210685"/>
                </a:lnTo>
                <a:lnTo>
                  <a:pt x="0" y="4210685"/>
                </a:lnTo>
                <a:lnTo>
                  <a:pt x="0" y="0"/>
                </a:lnTo>
                <a:close/>
              </a:path>
            </a:pathLst>
          </a:custGeom>
          <a:blipFill>
            <a:blip r:embed="rId2"/>
            <a:stretch>
              <a:fillRect t="-1036"/>
            </a:stretch>
          </a:blipFill>
        </p:spPr>
        <p:txBody>
          <a:bodyPr/>
          <a:lstStyle/>
          <a:p>
            <a:endParaRPr lang="en-IN"/>
          </a:p>
        </p:txBody>
      </p:sp>
      <p:sp>
        <p:nvSpPr>
          <p:cNvPr id="3" name="TextBox 3"/>
          <p:cNvSpPr txBox="1"/>
          <p:nvPr/>
        </p:nvSpPr>
        <p:spPr>
          <a:xfrm>
            <a:off x="1028700" y="937267"/>
            <a:ext cx="9154482" cy="452047"/>
          </a:xfrm>
          <a:prstGeom prst="rect">
            <a:avLst/>
          </a:prstGeom>
        </p:spPr>
        <p:txBody>
          <a:bodyPr lIns="0" tIns="0" rIns="0" bIns="0" rtlCol="0" anchor="t">
            <a:spAutoFit/>
          </a:bodyPr>
          <a:lstStyle/>
          <a:p>
            <a:pPr algn="l">
              <a:lnSpc>
                <a:spcPts val="3240"/>
              </a:lnSpc>
            </a:pPr>
            <a:r>
              <a:rPr lang="en-US" sz="4800" b="1" dirty="0">
                <a:solidFill>
                  <a:srgbClr val="000000"/>
                </a:solidFill>
                <a:latin typeface="Times New Roman" panose="02020603050405020304" pitchFamily="18" charset="0"/>
                <a:ea typeface="Bicubik"/>
                <a:cs typeface="Times New Roman" panose="02020603050405020304" pitchFamily="18" charset="0"/>
                <a:sym typeface="Bicubik"/>
              </a:rPr>
              <a:t>FEATURE ENGINEERING</a:t>
            </a:r>
          </a:p>
        </p:txBody>
      </p:sp>
      <p:sp>
        <p:nvSpPr>
          <p:cNvPr id="4" name="TextBox 4"/>
          <p:cNvSpPr txBox="1"/>
          <p:nvPr/>
        </p:nvSpPr>
        <p:spPr>
          <a:xfrm>
            <a:off x="1028700" y="2976743"/>
            <a:ext cx="6515099" cy="1311065"/>
          </a:xfrm>
          <a:prstGeom prst="rect">
            <a:avLst/>
          </a:prstGeom>
        </p:spPr>
        <p:txBody>
          <a:bodyPr wrap="square" lIns="0" tIns="0" rIns="0" bIns="0" rtlCol="0" anchor="t">
            <a:spAutoFit/>
          </a:bodyPr>
          <a:lstStyle/>
          <a:p>
            <a:pPr algn="l">
              <a:lnSpc>
                <a:spcPts val="2568"/>
              </a:lnSpc>
            </a:pPr>
            <a:r>
              <a:rPr lang="en-US" sz="1834" dirty="0">
                <a:solidFill>
                  <a:srgbClr val="000000"/>
                </a:solidFill>
                <a:latin typeface="Canva Sans"/>
                <a:ea typeface="Canva Sans"/>
                <a:cs typeface="Canva Sans"/>
                <a:sym typeface="Canva Sans"/>
              </a:rPr>
              <a:t>The target column contains grade ranges in text form.</a:t>
            </a:r>
          </a:p>
          <a:p>
            <a:pPr algn="l">
              <a:lnSpc>
                <a:spcPts val="2568"/>
              </a:lnSpc>
            </a:pPr>
            <a:r>
              <a:rPr lang="en-US" sz="1834" dirty="0">
                <a:solidFill>
                  <a:srgbClr val="000000"/>
                </a:solidFill>
                <a:latin typeface="Canva Sans"/>
                <a:ea typeface="Canva Sans"/>
                <a:cs typeface="Canva Sans"/>
                <a:sym typeface="Canva Sans"/>
              </a:rPr>
              <a:t>We convert these into numeric values so the model can learn from them.</a:t>
            </a:r>
          </a:p>
          <a:p>
            <a:pPr algn="l">
              <a:lnSpc>
                <a:spcPts val="2568"/>
              </a:lnSpc>
            </a:pPr>
            <a:endParaRPr lang="en-US" sz="1834" dirty="0">
              <a:solidFill>
                <a:srgbClr val="000000"/>
              </a:solidFill>
              <a:latin typeface="Canva Sans"/>
              <a:ea typeface="Canva Sans"/>
              <a:cs typeface="Canva Sans"/>
              <a:sym typeface="Canva Sans"/>
            </a:endParaRPr>
          </a:p>
        </p:txBody>
      </p:sp>
      <p:sp>
        <p:nvSpPr>
          <p:cNvPr id="5" name="TextBox 5"/>
          <p:cNvSpPr txBox="1"/>
          <p:nvPr/>
        </p:nvSpPr>
        <p:spPr>
          <a:xfrm>
            <a:off x="1028700" y="1943100"/>
            <a:ext cx="6515100" cy="1311065"/>
          </a:xfrm>
          <a:prstGeom prst="rect">
            <a:avLst/>
          </a:prstGeom>
        </p:spPr>
        <p:txBody>
          <a:bodyPr wrap="square" lIns="0" tIns="0" rIns="0" bIns="0" rtlCol="0" anchor="t">
            <a:spAutoFit/>
          </a:bodyPr>
          <a:lstStyle/>
          <a:p>
            <a:pPr algn="just">
              <a:lnSpc>
                <a:spcPts val="2568"/>
              </a:lnSpc>
            </a:pPr>
            <a:r>
              <a:rPr lang="en-US" sz="1834" dirty="0">
                <a:solidFill>
                  <a:srgbClr val="000000"/>
                </a:solidFill>
                <a:latin typeface="Canva Sans"/>
                <a:ea typeface="Canva Sans"/>
                <a:cs typeface="Canva Sans"/>
                <a:sym typeface="Canva Sans"/>
              </a:rPr>
              <a:t>We choose Expected final grade as the target variable because it is the outcome we want to predict using student academic and behavioral features.</a:t>
            </a:r>
          </a:p>
          <a:p>
            <a:pPr algn="just">
              <a:lnSpc>
                <a:spcPts val="2568"/>
              </a:lnSpc>
            </a:pPr>
            <a:endParaRPr lang="en-US" sz="1834" dirty="0">
              <a:solidFill>
                <a:srgbClr val="000000"/>
              </a:solidFill>
              <a:latin typeface="Canva Sans"/>
              <a:ea typeface="Canva Sans"/>
              <a:cs typeface="Canva Sans"/>
              <a:sym typeface="Canva Sans"/>
            </a:endParaRPr>
          </a:p>
        </p:txBody>
      </p:sp>
      <p:sp>
        <p:nvSpPr>
          <p:cNvPr id="6" name="Freeform 6"/>
          <p:cNvSpPr/>
          <p:nvPr/>
        </p:nvSpPr>
        <p:spPr>
          <a:xfrm>
            <a:off x="8182448" y="1943100"/>
            <a:ext cx="9076852" cy="6248400"/>
          </a:xfrm>
          <a:custGeom>
            <a:avLst/>
            <a:gdLst/>
            <a:ahLst/>
            <a:cxnLst/>
            <a:rect l="l" t="t" r="r" b="b"/>
            <a:pathLst>
              <a:path w="9076852" h="4625113">
                <a:moveTo>
                  <a:pt x="0" y="0"/>
                </a:moveTo>
                <a:lnTo>
                  <a:pt x="9076852" y="0"/>
                </a:lnTo>
                <a:lnTo>
                  <a:pt x="9076852" y="4625114"/>
                </a:lnTo>
                <a:lnTo>
                  <a:pt x="0" y="4625114"/>
                </a:lnTo>
                <a:lnTo>
                  <a:pt x="0" y="0"/>
                </a:lnTo>
                <a:close/>
              </a:path>
            </a:pathLst>
          </a:custGeom>
          <a:blipFill>
            <a:blip r:embed="rId3"/>
            <a:stretch>
              <a:fillRect l="-1029" r="-1029" b="-1397"/>
            </a:stretch>
          </a:blipFill>
        </p:spPr>
        <p:txBody>
          <a:bodyPr/>
          <a:lstStyle/>
          <a:p>
            <a:endParaRPr lang="en-IN"/>
          </a:p>
        </p:txBody>
      </p:sp>
      <p:sp>
        <p:nvSpPr>
          <p:cNvPr id="7" name="TextBox 7"/>
          <p:cNvSpPr txBox="1"/>
          <p:nvPr/>
        </p:nvSpPr>
        <p:spPr>
          <a:xfrm>
            <a:off x="8182448" y="8543343"/>
            <a:ext cx="9076852" cy="971825"/>
          </a:xfrm>
          <a:prstGeom prst="rect">
            <a:avLst/>
          </a:prstGeom>
        </p:spPr>
        <p:txBody>
          <a:bodyPr wrap="square" lIns="0" tIns="0" rIns="0" bIns="0" rtlCol="0" anchor="t">
            <a:spAutoFit/>
          </a:bodyPr>
          <a:lstStyle/>
          <a:p>
            <a:pPr>
              <a:lnSpc>
                <a:spcPts val="2609"/>
              </a:lnSpc>
            </a:pPr>
            <a:r>
              <a:rPr lang="en-US" sz="1864" dirty="0">
                <a:solidFill>
                  <a:srgbClr val="000000"/>
                </a:solidFill>
                <a:latin typeface="Canva Sans"/>
                <a:ea typeface="Canva Sans"/>
                <a:cs typeface="Canva Sans"/>
                <a:sym typeface="Canva Sans"/>
              </a:rPr>
              <a:t>Machine learning models work with numbers, so text-based  categories must be converted into numeric form.</a:t>
            </a:r>
          </a:p>
          <a:p>
            <a:pPr>
              <a:lnSpc>
                <a:spcPts val="2609"/>
              </a:lnSpc>
            </a:pPr>
            <a:endParaRPr lang="en-US" sz="1864" dirty="0">
              <a:solidFill>
                <a:srgbClr val="000000"/>
              </a:solidFill>
              <a:latin typeface="Canva Sans"/>
              <a:ea typeface="Canva Sans"/>
              <a:cs typeface="Canva Sans"/>
              <a:sym typeface="Canv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669202" y="8342519"/>
            <a:ext cx="1673355" cy="915781"/>
          </a:xfrm>
          <a:custGeom>
            <a:avLst/>
            <a:gdLst/>
            <a:ahLst/>
            <a:cxnLst/>
            <a:rect l="l" t="t" r="r" b="b"/>
            <a:pathLst>
              <a:path w="1673355" h="915781">
                <a:moveTo>
                  <a:pt x="0" y="0"/>
                </a:moveTo>
                <a:lnTo>
                  <a:pt x="1673355" y="0"/>
                </a:lnTo>
                <a:lnTo>
                  <a:pt x="1673355" y="915781"/>
                </a:lnTo>
                <a:lnTo>
                  <a:pt x="0" y="9157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914836" y="8697104"/>
            <a:ext cx="476779" cy="119195"/>
          </a:xfrm>
          <a:custGeom>
            <a:avLst/>
            <a:gdLst/>
            <a:ahLst/>
            <a:cxnLst/>
            <a:rect l="l" t="t" r="r" b="b"/>
            <a:pathLst>
              <a:path w="476779" h="119195">
                <a:moveTo>
                  <a:pt x="0" y="0"/>
                </a:moveTo>
                <a:lnTo>
                  <a:pt x="476779" y="0"/>
                </a:lnTo>
                <a:lnTo>
                  <a:pt x="476779" y="119195"/>
                </a:lnTo>
                <a:lnTo>
                  <a:pt x="0" y="11919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762000" y="4887508"/>
            <a:ext cx="7313857" cy="4980391"/>
          </a:xfrm>
          <a:custGeom>
            <a:avLst/>
            <a:gdLst/>
            <a:ahLst/>
            <a:cxnLst/>
            <a:rect l="l" t="t" r="r" b="b"/>
            <a:pathLst>
              <a:path w="3769659" h="2878750">
                <a:moveTo>
                  <a:pt x="0" y="0"/>
                </a:moveTo>
                <a:lnTo>
                  <a:pt x="3769658" y="0"/>
                </a:lnTo>
                <a:lnTo>
                  <a:pt x="3769658" y="2878750"/>
                </a:lnTo>
                <a:lnTo>
                  <a:pt x="0" y="2878750"/>
                </a:lnTo>
                <a:lnTo>
                  <a:pt x="0" y="0"/>
                </a:lnTo>
                <a:close/>
              </a:path>
            </a:pathLst>
          </a:custGeom>
          <a:blipFill>
            <a:blip r:embed="rId4"/>
            <a:stretch>
              <a:fillRect/>
            </a:stretch>
          </a:blipFill>
        </p:spPr>
        <p:txBody>
          <a:bodyPr/>
          <a:lstStyle/>
          <a:p>
            <a:endParaRPr lang="en-IN" dirty="0"/>
          </a:p>
        </p:txBody>
      </p:sp>
      <p:sp>
        <p:nvSpPr>
          <p:cNvPr id="5" name="Freeform 5"/>
          <p:cNvSpPr/>
          <p:nvPr/>
        </p:nvSpPr>
        <p:spPr>
          <a:xfrm>
            <a:off x="8686800" y="4887508"/>
            <a:ext cx="7467600" cy="4827991"/>
          </a:xfrm>
          <a:custGeom>
            <a:avLst/>
            <a:gdLst/>
            <a:ahLst/>
            <a:cxnLst/>
            <a:rect l="l" t="t" r="r" b="b"/>
            <a:pathLst>
              <a:path w="3868856" h="2878750">
                <a:moveTo>
                  <a:pt x="0" y="0"/>
                </a:moveTo>
                <a:lnTo>
                  <a:pt x="3868856" y="0"/>
                </a:lnTo>
                <a:lnTo>
                  <a:pt x="3868856" y="2878750"/>
                </a:lnTo>
                <a:lnTo>
                  <a:pt x="0" y="2878750"/>
                </a:lnTo>
                <a:lnTo>
                  <a:pt x="0" y="0"/>
                </a:lnTo>
                <a:close/>
              </a:path>
            </a:pathLst>
          </a:custGeom>
          <a:blipFill>
            <a:blip r:embed="rId5"/>
            <a:stretch>
              <a:fillRect/>
            </a:stretch>
          </a:blipFill>
        </p:spPr>
        <p:txBody>
          <a:bodyPr/>
          <a:lstStyle/>
          <a:p>
            <a:endParaRPr lang="en-IN" dirty="0"/>
          </a:p>
        </p:txBody>
      </p:sp>
      <p:sp>
        <p:nvSpPr>
          <p:cNvPr id="6" name="TextBox 6"/>
          <p:cNvSpPr txBox="1"/>
          <p:nvPr/>
        </p:nvSpPr>
        <p:spPr>
          <a:xfrm>
            <a:off x="6477000" y="744903"/>
            <a:ext cx="4759108" cy="452047"/>
          </a:xfrm>
          <a:prstGeom prst="rect">
            <a:avLst/>
          </a:prstGeom>
        </p:spPr>
        <p:txBody>
          <a:bodyPr lIns="0" tIns="0" rIns="0" bIns="0" rtlCol="0" anchor="t">
            <a:spAutoFit/>
          </a:bodyPr>
          <a:lstStyle/>
          <a:p>
            <a:pPr algn="l">
              <a:lnSpc>
                <a:spcPts val="3240"/>
              </a:lnSpc>
            </a:pPr>
            <a:r>
              <a:rPr lang="en-US" sz="4800" b="1" dirty="0">
                <a:solidFill>
                  <a:srgbClr val="000000"/>
                </a:solidFill>
                <a:latin typeface="Times New Roman" panose="02020603050405020304" pitchFamily="18" charset="0"/>
                <a:ea typeface="Bicubik"/>
                <a:cs typeface="Times New Roman" panose="02020603050405020304" pitchFamily="18" charset="0"/>
                <a:sym typeface="Bicubik"/>
              </a:rPr>
              <a:t>MODELS</a:t>
            </a:r>
          </a:p>
        </p:txBody>
      </p:sp>
      <p:sp>
        <p:nvSpPr>
          <p:cNvPr id="7" name="TextBox 7"/>
          <p:cNvSpPr txBox="1"/>
          <p:nvPr/>
        </p:nvSpPr>
        <p:spPr>
          <a:xfrm>
            <a:off x="1048365" y="2687371"/>
            <a:ext cx="7313857" cy="2130840"/>
          </a:xfrm>
          <a:prstGeom prst="rect">
            <a:avLst/>
          </a:prstGeom>
        </p:spPr>
        <p:txBody>
          <a:bodyPr wrap="square" lIns="0" tIns="0" rIns="0" bIns="0" rtlCol="0" anchor="t">
            <a:spAutoFit/>
          </a:bodyPr>
          <a:lstStyle/>
          <a:p>
            <a:pPr algn="l">
              <a:lnSpc>
                <a:spcPts val="2799"/>
              </a:lnSpc>
            </a:pPr>
            <a:r>
              <a:rPr lang="en-US" sz="1999" spc="-79" dirty="0">
                <a:solidFill>
                  <a:srgbClr val="000000"/>
                </a:solidFill>
                <a:latin typeface="Canva Sans"/>
                <a:ea typeface="Canva Sans"/>
                <a:cs typeface="Times New Roman" panose="02020603050405020304" pitchFamily="18" charset="0"/>
                <a:sym typeface="Canva Sans"/>
              </a:rPr>
              <a:t>Linear Regression is one of the most fundamental supervised learning algorithms used for predicting continuous numerical values. Since our target variable, "Expected final grade," is numerical after preprocessing, Linear Regression is an appropriate starting model.</a:t>
            </a:r>
          </a:p>
          <a:p>
            <a:pPr algn="l">
              <a:lnSpc>
                <a:spcPts val="2799"/>
              </a:lnSpc>
            </a:pPr>
            <a:endParaRPr lang="en-US" sz="1999" spc="-79" dirty="0">
              <a:solidFill>
                <a:srgbClr val="000000"/>
              </a:solidFill>
              <a:latin typeface="Canva Sans"/>
              <a:ea typeface="Canva Sans"/>
              <a:cs typeface="Times New Roman" panose="02020603050405020304" pitchFamily="18" charset="0"/>
              <a:sym typeface="Canva Sans"/>
            </a:endParaRPr>
          </a:p>
        </p:txBody>
      </p:sp>
      <p:sp>
        <p:nvSpPr>
          <p:cNvPr id="8" name="TextBox 8"/>
          <p:cNvSpPr txBox="1"/>
          <p:nvPr/>
        </p:nvSpPr>
        <p:spPr>
          <a:xfrm>
            <a:off x="1028700" y="2120814"/>
            <a:ext cx="6134100" cy="734304"/>
          </a:xfrm>
          <a:prstGeom prst="rect">
            <a:avLst/>
          </a:prstGeom>
        </p:spPr>
        <p:txBody>
          <a:bodyPr wrap="square" lIns="0" tIns="0" rIns="0" bIns="0" rtlCol="0" anchor="t">
            <a:spAutoFit/>
          </a:bodyPr>
          <a:lstStyle/>
          <a:p>
            <a:pPr algn="l">
              <a:lnSpc>
                <a:spcPts val="2799"/>
              </a:lnSpc>
            </a:pPr>
            <a:r>
              <a:rPr lang="en-US" sz="3200" b="1" spc="-79" dirty="0">
                <a:solidFill>
                  <a:srgbClr val="000000"/>
                </a:solidFill>
                <a:latin typeface="Canva Sans Bold"/>
                <a:ea typeface="Canva Sans Bold"/>
                <a:cs typeface="Times New Roman" panose="02020603050405020304" pitchFamily="18" charset="0"/>
                <a:sym typeface="Canva Sans Bold"/>
              </a:rPr>
              <a:t>LINEAR REGRESSION</a:t>
            </a:r>
          </a:p>
          <a:p>
            <a:pPr algn="l">
              <a:lnSpc>
                <a:spcPts val="2799"/>
              </a:lnSpc>
            </a:pPr>
            <a:endParaRPr lang="en-US" sz="3200" b="1" spc="-79" dirty="0">
              <a:solidFill>
                <a:srgbClr val="000000"/>
              </a:solidFill>
              <a:latin typeface="Canva Sans Bold"/>
              <a:ea typeface="Canva Sans Bold"/>
              <a:cs typeface="Times New Roman" panose="02020603050405020304" pitchFamily="18" charset="0"/>
              <a:sym typeface="Canva Sans Bold"/>
            </a:endParaRPr>
          </a:p>
        </p:txBody>
      </p:sp>
      <p:sp>
        <p:nvSpPr>
          <p:cNvPr id="9" name="TextBox 9"/>
          <p:cNvSpPr txBox="1"/>
          <p:nvPr/>
        </p:nvSpPr>
        <p:spPr>
          <a:xfrm>
            <a:off x="8991600" y="2687371"/>
            <a:ext cx="8542395" cy="2130840"/>
          </a:xfrm>
          <a:prstGeom prst="rect">
            <a:avLst/>
          </a:prstGeom>
        </p:spPr>
        <p:txBody>
          <a:bodyPr wrap="square" lIns="0" tIns="0" rIns="0" bIns="0" rtlCol="0" anchor="t">
            <a:spAutoFit/>
          </a:bodyPr>
          <a:lstStyle/>
          <a:p>
            <a:pPr algn="l">
              <a:lnSpc>
                <a:spcPts val="2799"/>
              </a:lnSpc>
            </a:pPr>
            <a:r>
              <a:rPr lang="en-US" sz="1999" spc="-79" dirty="0">
                <a:solidFill>
                  <a:srgbClr val="000000"/>
                </a:solidFill>
                <a:latin typeface="Canva Sans"/>
                <a:ea typeface="Canva Sans"/>
                <a:cs typeface="Times New Roman" panose="02020603050405020304" pitchFamily="18" charset="0"/>
                <a:sym typeface="Canva Sans"/>
              </a:rPr>
              <a:t>Polynomial Regression helps capture these non-linear relationships by adding higher-degree terms (like squared or cubic features).</a:t>
            </a:r>
          </a:p>
          <a:p>
            <a:pPr algn="l">
              <a:lnSpc>
                <a:spcPts val="2799"/>
              </a:lnSpc>
            </a:pPr>
            <a:r>
              <a:rPr lang="en-US" sz="1999" spc="-79" dirty="0">
                <a:solidFill>
                  <a:srgbClr val="000000"/>
                </a:solidFill>
                <a:latin typeface="Canva Sans"/>
                <a:ea typeface="Canva Sans"/>
                <a:cs typeface="Times New Roman" panose="02020603050405020304" pitchFamily="18" charset="0"/>
                <a:sym typeface="Canva Sans"/>
              </a:rPr>
              <a:t>Why use Polynomial Regression?</a:t>
            </a:r>
          </a:p>
          <a:p>
            <a:pPr algn="l">
              <a:lnSpc>
                <a:spcPts val="2799"/>
              </a:lnSpc>
            </a:pPr>
            <a:r>
              <a:rPr lang="en-US" sz="1999" spc="-79" dirty="0">
                <a:solidFill>
                  <a:srgbClr val="000000"/>
                </a:solidFill>
                <a:latin typeface="Canva Sans"/>
                <a:ea typeface="Canva Sans"/>
                <a:cs typeface="Times New Roman" panose="02020603050405020304" pitchFamily="18" charset="0"/>
                <a:sym typeface="Canva Sans"/>
              </a:rPr>
              <a:t>- It can model more complex feature-target relationships</a:t>
            </a:r>
          </a:p>
          <a:p>
            <a:pPr algn="l">
              <a:lnSpc>
                <a:spcPts val="2799"/>
              </a:lnSpc>
            </a:pPr>
            <a:r>
              <a:rPr lang="en-US" sz="1999" spc="-79" dirty="0">
                <a:solidFill>
                  <a:srgbClr val="000000"/>
                </a:solidFill>
                <a:latin typeface="Canva Sans"/>
                <a:ea typeface="Canva Sans"/>
                <a:cs typeface="Times New Roman" panose="02020603050405020304" pitchFamily="18" charset="0"/>
                <a:sym typeface="Canva Sans"/>
              </a:rPr>
              <a:t>- It may improve prediction performance over simple Linear Regression</a:t>
            </a:r>
          </a:p>
          <a:p>
            <a:pPr algn="l">
              <a:lnSpc>
                <a:spcPts val="2799"/>
              </a:lnSpc>
            </a:pPr>
            <a:r>
              <a:rPr lang="en-US" sz="1999" spc="-79" dirty="0">
                <a:solidFill>
                  <a:srgbClr val="000000"/>
                </a:solidFill>
                <a:latin typeface="Canva Sans"/>
                <a:ea typeface="Canva Sans"/>
                <a:cs typeface="Times New Roman" panose="02020603050405020304" pitchFamily="18" charset="0"/>
                <a:sym typeface="Canva Sans"/>
              </a:rPr>
              <a:t>- It helps test whether the data has useful non-linear structure</a:t>
            </a:r>
          </a:p>
        </p:txBody>
      </p:sp>
      <p:sp>
        <p:nvSpPr>
          <p:cNvPr id="10" name="TextBox 10"/>
          <p:cNvSpPr txBox="1"/>
          <p:nvPr/>
        </p:nvSpPr>
        <p:spPr>
          <a:xfrm>
            <a:off x="8991600" y="2120814"/>
            <a:ext cx="5517436" cy="375231"/>
          </a:xfrm>
          <a:prstGeom prst="rect">
            <a:avLst/>
          </a:prstGeom>
        </p:spPr>
        <p:txBody>
          <a:bodyPr wrap="square" lIns="0" tIns="0" rIns="0" bIns="0" rtlCol="0" anchor="t">
            <a:spAutoFit/>
          </a:bodyPr>
          <a:lstStyle/>
          <a:p>
            <a:pPr algn="l">
              <a:lnSpc>
                <a:spcPts val="2799"/>
              </a:lnSpc>
            </a:pPr>
            <a:r>
              <a:rPr lang="en-US" sz="3200" b="1" spc="-79" dirty="0">
                <a:solidFill>
                  <a:srgbClr val="000000"/>
                </a:solidFill>
                <a:latin typeface="Canva Sans Bold"/>
                <a:ea typeface="Canva Sans Bold"/>
                <a:cs typeface="Times New Roman" panose="02020603050405020304" pitchFamily="18" charset="0"/>
                <a:sym typeface="Canva Sans Bold"/>
              </a:rPr>
              <a:t>POLYNOMIAL REGRESSION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91947" y="9024129"/>
            <a:ext cx="476779" cy="119195"/>
          </a:xfrm>
          <a:custGeom>
            <a:avLst/>
            <a:gdLst/>
            <a:ahLst/>
            <a:cxnLst/>
            <a:rect l="l" t="t" r="r" b="b"/>
            <a:pathLst>
              <a:path w="476779" h="119195">
                <a:moveTo>
                  <a:pt x="0" y="0"/>
                </a:moveTo>
                <a:lnTo>
                  <a:pt x="476780" y="0"/>
                </a:lnTo>
                <a:lnTo>
                  <a:pt x="476780" y="119195"/>
                </a:lnTo>
                <a:lnTo>
                  <a:pt x="0" y="11919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295400" y="5835118"/>
            <a:ext cx="6414458" cy="4185181"/>
          </a:xfrm>
          <a:custGeom>
            <a:avLst/>
            <a:gdLst/>
            <a:ahLst/>
            <a:cxnLst/>
            <a:rect l="l" t="t" r="r" b="b"/>
            <a:pathLst>
              <a:path w="3653208" h="2723112">
                <a:moveTo>
                  <a:pt x="0" y="0"/>
                </a:moveTo>
                <a:lnTo>
                  <a:pt x="3653207" y="0"/>
                </a:lnTo>
                <a:lnTo>
                  <a:pt x="3653207" y="2723112"/>
                </a:lnTo>
                <a:lnTo>
                  <a:pt x="0" y="2723112"/>
                </a:lnTo>
                <a:lnTo>
                  <a:pt x="0" y="0"/>
                </a:lnTo>
                <a:close/>
              </a:path>
            </a:pathLst>
          </a:custGeom>
          <a:blipFill>
            <a:blip r:embed="rId3"/>
            <a:stretch>
              <a:fillRect/>
            </a:stretch>
          </a:blipFill>
        </p:spPr>
        <p:txBody>
          <a:bodyPr/>
          <a:lstStyle/>
          <a:p>
            <a:endParaRPr lang="en-IN"/>
          </a:p>
        </p:txBody>
      </p:sp>
      <p:sp>
        <p:nvSpPr>
          <p:cNvPr id="4" name="Freeform 4"/>
          <p:cNvSpPr/>
          <p:nvPr/>
        </p:nvSpPr>
        <p:spPr>
          <a:xfrm>
            <a:off x="10210800" y="6057899"/>
            <a:ext cx="5791200" cy="3962399"/>
          </a:xfrm>
          <a:custGeom>
            <a:avLst/>
            <a:gdLst/>
            <a:ahLst/>
            <a:cxnLst/>
            <a:rect l="l" t="t" r="r" b="b"/>
            <a:pathLst>
              <a:path w="3416595" h="2500656">
                <a:moveTo>
                  <a:pt x="0" y="0"/>
                </a:moveTo>
                <a:lnTo>
                  <a:pt x="3416595" y="0"/>
                </a:lnTo>
                <a:lnTo>
                  <a:pt x="3416595" y="2500656"/>
                </a:lnTo>
                <a:lnTo>
                  <a:pt x="0" y="2500656"/>
                </a:lnTo>
                <a:lnTo>
                  <a:pt x="0" y="0"/>
                </a:lnTo>
                <a:close/>
              </a:path>
            </a:pathLst>
          </a:custGeom>
          <a:blipFill>
            <a:blip r:embed="rId4"/>
            <a:stretch>
              <a:fillRect/>
            </a:stretch>
          </a:blipFill>
        </p:spPr>
        <p:txBody>
          <a:bodyPr/>
          <a:lstStyle/>
          <a:p>
            <a:endParaRPr lang="en-IN"/>
          </a:p>
        </p:txBody>
      </p:sp>
      <p:sp>
        <p:nvSpPr>
          <p:cNvPr id="5" name="TextBox 5"/>
          <p:cNvSpPr txBox="1"/>
          <p:nvPr/>
        </p:nvSpPr>
        <p:spPr>
          <a:xfrm>
            <a:off x="4286962" y="723900"/>
            <a:ext cx="4759108" cy="452047"/>
          </a:xfrm>
          <a:prstGeom prst="rect">
            <a:avLst/>
          </a:prstGeom>
        </p:spPr>
        <p:txBody>
          <a:bodyPr lIns="0" tIns="0" rIns="0" bIns="0" rtlCol="0" anchor="t">
            <a:spAutoFit/>
          </a:bodyPr>
          <a:lstStyle/>
          <a:p>
            <a:pPr algn="ctr">
              <a:lnSpc>
                <a:spcPts val="3240"/>
              </a:lnSpc>
            </a:pPr>
            <a:r>
              <a:rPr lang="en-US" sz="4800" b="1" dirty="0">
                <a:solidFill>
                  <a:srgbClr val="000000"/>
                </a:solidFill>
                <a:latin typeface="Times New Roman" panose="02020603050405020304" pitchFamily="18" charset="0"/>
                <a:ea typeface="Bicubik"/>
                <a:cs typeface="Times New Roman" panose="02020603050405020304" pitchFamily="18" charset="0"/>
                <a:sym typeface="Bicubik"/>
              </a:rPr>
              <a:t>		MODELS</a:t>
            </a:r>
          </a:p>
        </p:txBody>
      </p:sp>
      <p:sp>
        <p:nvSpPr>
          <p:cNvPr id="6" name="TextBox 6"/>
          <p:cNvSpPr txBox="1"/>
          <p:nvPr/>
        </p:nvSpPr>
        <p:spPr>
          <a:xfrm>
            <a:off x="976942" y="2879310"/>
            <a:ext cx="7938457" cy="2489912"/>
          </a:xfrm>
          <a:prstGeom prst="rect">
            <a:avLst/>
          </a:prstGeom>
        </p:spPr>
        <p:txBody>
          <a:bodyPr wrap="square" lIns="0" tIns="0" rIns="0" bIns="0" rtlCol="0" anchor="t">
            <a:spAutoFit/>
          </a:bodyPr>
          <a:lstStyle/>
          <a:p>
            <a:pPr algn="l">
              <a:lnSpc>
                <a:spcPts val="2799"/>
              </a:lnSpc>
            </a:pPr>
            <a:r>
              <a:rPr lang="en-US" sz="1999" spc="-79" dirty="0">
                <a:solidFill>
                  <a:srgbClr val="000000"/>
                </a:solidFill>
                <a:latin typeface="Canva Sans"/>
                <a:ea typeface="Canva Sans"/>
                <a:cs typeface="Canva Sans"/>
                <a:sym typeface="Canva Sans"/>
              </a:rPr>
              <a:t>KNN (K-Nearest Neighbors) is a distance-based algorithm. It predicts the value of a data point by averaging the values of its nearest neighbors.</a:t>
            </a:r>
          </a:p>
          <a:p>
            <a:pPr algn="l">
              <a:lnSpc>
                <a:spcPts val="2799"/>
              </a:lnSpc>
            </a:pPr>
            <a:r>
              <a:rPr lang="en-US" sz="1999" spc="-79" dirty="0">
                <a:solidFill>
                  <a:srgbClr val="000000"/>
                </a:solidFill>
                <a:latin typeface="Canva Sans"/>
                <a:ea typeface="Canva Sans"/>
                <a:cs typeface="Canva Sans"/>
                <a:sym typeface="Canva Sans"/>
              </a:rPr>
              <a:t>We use KNN because:</a:t>
            </a:r>
          </a:p>
          <a:p>
            <a:pPr algn="l">
              <a:lnSpc>
                <a:spcPts val="2799"/>
              </a:lnSpc>
            </a:pPr>
            <a:r>
              <a:rPr lang="en-US" sz="1999" spc="-79" dirty="0">
                <a:solidFill>
                  <a:srgbClr val="000000"/>
                </a:solidFill>
                <a:latin typeface="Canva Sans"/>
                <a:ea typeface="Canva Sans"/>
                <a:cs typeface="Canva Sans"/>
                <a:sym typeface="Canva Sans"/>
              </a:rPr>
              <a:t>It works well when relationships are non-linear</a:t>
            </a:r>
          </a:p>
          <a:p>
            <a:pPr algn="l">
              <a:lnSpc>
                <a:spcPts val="2799"/>
              </a:lnSpc>
            </a:pPr>
            <a:r>
              <a:rPr lang="en-US" sz="1999" spc="-79" dirty="0">
                <a:solidFill>
                  <a:srgbClr val="000000"/>
                </a:solidFill>
                <a:latin typeface="Canva Sans"/>
                <a:ea typeface="Canva Sans"/>
                <a:cs typeface="Canva Sans"/>
                <a:sym typeface="Canva Sans"/>
              </a:rPr>
              <a:t>It is simple and does not require training a model explicitly</a:t>
            </a:r>
          </a:p>
          <a:p>
            <a:pPr algn="l">
              <a:lnSpc>
                <a:spcPts val="2799"/>
              </a:lnSpc>
            </a:pPr>
            <a:r>
              <a:rPr lang="en-US" sz="1999" spc="-79" dirty="0">
                <a:solidFill>
                  <a:srgbClr val="000000"/>
                </a:solidFill>
                <a:latin typeface="Canva Sans"/>
                <a:ea typeface="Canva Sans"/>
                <a:cs typeface="Canva Sans"/>
                <a:sym typeface="Canva Sans"/>
              </a:rPr>
              <a:t>It helps compare performance with a completely different approach</a:t>
            </a:r>
          </a:p>
        </p:txBody>
      </p:sp>
      <p:sp>
        <p:nvSpPr>
          <p:cNvPr id="7" name="TextBox 7"/>
          <p:cNvSpPr txBox="1"/>
          <p:nvPr/>
        </p:nvSpPr>
        <p:spPr>
          <a:xfrm>
            <a:off x="1028700" y="2037119"/>
            <a:ext cx="3619500" cy="375231"/>
          </a:xfrm>
          <a:prstGeom prst="rect">
            <a:avLst/>
          </a:prstGeom>
        </p:spPr>
        <p:txBody>
          <a:bodyPr wrap="square" lIns="0" tIns="0" rIns="0" bIns="0" rtlCol="0" anchor="t">
            <a:spAutoFit/>
          </a:bodyPr>
          <a:lstStyle/>
          <a:p>
            <a:pPr algn="l">
              <a:lnSpc>
                <a:spcPts val="2799"/>
              </a:lnSpc>
            </a:pPr>
            <a:r>
              <a:rPr lang="en-US" sz="3200" b="1" spc="-79" dirty="0">
                <a:solidFill>
                  <a:srgbClr val="000000"/>
                </a:solidFill>
                <a:latin typeface="Canva Sans Bold"/>
                <a:ea typeface="Canva Sans Bold"/>
                <a:cs typeface="Canva Sans Bold"/>
                <a:sym typeface="Canva Sans Bold"/>
              </a:rPr>
              <a:t>KNN REGRESSION</a:t>
            </a:r>
          </a:p>
        </p:txBody>
      </p:sp>
      <p:sp>
        <p:nvSpPr>
          <p:cNvPr id="8" name="TextBox 8"/>
          <p:cNvSpPr txBox="1"/>
          <p:nvPr/>
        </p:nvSpPr>
        <p:spPr>
          <a:xfrm>
            <a:off x="9080483" y="2879310"/>
            <a:ext cx="8423867" cy="2848985"/>
          </a:xfrm>
          <a:prstGeom prst="rect">
            <a:avLst/>
          </a:prstGeom>
        </p:spPr>
        <p:txBody>
          <a:bodyPr wrap="square" lIns="0" tIns="0" rIns="0" bIns="0" rtlCol="0" anchor="t">
            <a:spAutoFit/>
          </a:bodyPr>
          <a:lstStyle/>
          <a:p>
            <a:pPr algn="l">
              <a:lnSpc>
                <a:spcPts val="2799"/>
              </a:lnSpc>
            </a:pPr>
            <a:r>
              <a:rPr lang="en-US" sz="1999" spc="-79" dirty="0">
                <a:solidFill>
                  <a:srgbClr val="000000"/>
                </a:solidFill>
                <a:latin typeface="Canva Sans"/>
                <a:ea typeface="Canva Sans"/>
                <a:cs typeface="Canva Sans"/>
                <a:sym typeface="Canva Sans"/>
              </a:rPr>
              <a:t>Random Forest is an improved version of Decision Tree. Instead of using one tree, it builds multiple trees and combines their predictions.</a:t>
            </a:r>
          </a:p>
          <a:p>
            <a:pPr algn="l">
              <a:lnSpc>
                <a:spcPts val="2799"/>
              </a:lnSpc>
            </a:pPr>
            <a:r>
              <a:rPr lang="en-US" sz="1999" spc="-79" dirty="0">
                <a:solidFill>
                  <a:srgbClr val="000000"/>
                </a:solidFill>
                <a:latin typeface="Canva Sans"/>
                <a:ea typeface="Canva Sans"/>
                <a:cs typeface="Canva Sans"/>
                <a:sym typeface="Canva Sans"/>
              </a:rPr>
              <a:t>This reduces overfitting and improves accuracy.</a:t>
            </a:r>
          </a:p>
          <a:p>
            <a:pPr algn="l">
              <a:lnSpc>
                <a:spcPts val="2799"/>
              </a:lnSpc>
            </a:pPr>
            <a:r>
              <a:rPr lang="en-US" sz="1999" spc="-79" dirty="0">
                <a:solidFill>
                  <a:srgbClr val="000000"/>
                </a:solidFill>
                <a:latin typeface="Canva Sans"/>
                <a:ea typeface="Canva Sans"/>
                <a:cs typeface="Canva Sans"/>
                <a:sym typeface="Canva Sans"/>
              </a:rPr>
              <a:t>Why we are using Random Forest</a:t>
            </a:r>
          </a:p>
          <a:p>
            <a:pPr algn="l">
              <a:lnSpc>
                <a:spcPts val="2799"/>
              </a:lnSpc>
            </a:pPr>
            <a:r>
              <a:rPr lang="en-US" sz="1999" spc="-79" dirty="0">
                <a:solidFill>
                  <a:srgbClr val="000000"/>
                </a:solidFill>
                <a:latin typeface="Canva Sans"/>
                <a:ea typeface="Canva Sans"/>
                <a:cs typeface="Canva Sans"/>
                <a:sym typeface="Canva Sans"/>
              </a:rPr>
              <a:t>Reduces overfitting of Decision Trees</a:t>
            </a:r>
          </a:p>
          <a:p>
            <a:pPr algn="l">
              <a:lnSpc>
                <a:spcPts val="2799"/>
              </a:lnSpc>
            </a:pPr>
            <a:r>
              <a:rPr lang="en-US" sz="1999" spc="-79" dirty="0">
                <a:solidFill>
                  <a:srgbClr val="000000"/>
                </a:solidFill>
                <a:latin typeface="Canva Sans"/>
                <a:ea typeface="Canva Sans"/>
                <a:cs typeface="Canva Sans"/>
                <a:sym typeface="Canva Sans"/>
              </a:rPr>
              <a:t>More stable and accurate</a:t>
            </a:r>
          </a:p>
          <a:p>
            <a:pPr algn="l">
              <a:lnSpc>
                <a:spcPts val="2799"/>
              </a:lnSpc>
            </a:pPr>
            <a:r>
              <a:rPr lang="en-US" sz="1999" spc="-79" dirty="0">
                <a:solidFill>
                  <a:srgbClr val="000000"/>
                </a:solidFill>
                <a:latin typeface="Canva Sans"/>
                <a:ea typeface="Canva Sans"/>
                <a:cs typeface="Canva Sans"/>
                <a:sym typeface="Canva Sans"/>
              </a:rPr>
              <a:t>Works well for complex and non-linear data</a:t>
            </a:r>
          </a:p>
          <a:p>
            <a:pPr algn="l">
              <a:lnSpc>
                <a:spcPts val="2799"/>
              </a:lnSpc>
            </a:pPr>
            <a:r>
              <a:rPr lang="en-US" sz="1999" spc="-79" dirty="0">
                <a:solidFill>
                  <a:srgbClr val="000000"/>
                </a:solidFill>
                <a:latin typeface="Canva Sans"/>
                <a:ea typeface="Canva Sans"/>
                <a:cs typeface="Canva Sans"/>
                <a:sym typeface="Canva Sans"/>
              </a:rPr>
              <a:t>Uses ensemble learning (multiple models combined)</a:t>
            </a:r>
          </a:p>
        </p:txBody>
      </p:sp>
      <p:sp>
        <p:nvSpPr>
          <p:cNvPr id="9" name="TextBox 9"/>
          <p:cNvSpPr txBox="1"/>
          <p:nvPr/>
        </p:nvSpPr>
        <p:spPr>
          <a:xfrm>
            <a:off x="9134168" y="2037118"/>
            <a:ext cx="6540517" cy="375231"/>
          </a:xfrm>
          <a:prstGeom prst="rect">
            <a:avLst/>
          </a:prstGeom>
        </p:spPr>
        <p:txBody>
          <a:bodyPr wrap="square" lIns="0" tIns="0" rIns="0" bIns="0" rtlCol="0" anchor="t">
            <a:spAutoFit/>
          </a:bodyPr>
          <a:lstStyle/>
          <a:p>
            <a:pPr algn="l">
              <a:lnSpc>
                <a:spcPts val="2799"/>
              </a:lnSpc>
            </a:pPr>
            <a:r>
              <a:rPr lang="en-US" sz="3200" b="1" spc="-79" dirty="0">
                <a:solidFill>
                  <a:srgbClr val="000000"/>
                </a:solidFill>
                <a:latin typeface="Canva Sans Bold"/>
                <a:ea typeface="Canva Sans Bold"/>
                <a:cs typeface="Canva Sans Bold"/>
                <a:sym typeface="Canva Sans Bold"/>
              </a:rPr>
              <a:t>RANDOM FOREST REGRESSION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67600" y="2334792"/>
            <a:ext cx="10004607" cy="6890673"/>
          </a:xfrm>
          <a:custGeom>
            <a:avLst/>
            <a:gdLst/>
            <a:ahLst/>
            <a:cxnLst/>
            <a:rect l="l" t="t" r="r" b="b"/>
            <a:pathLst>
              <a:path w="10004607" h="6890673">
                <a:moveTo>
                  <a:pt x="0" y="0"/>
                </a:moveTo>
                <a:lnTo>
                  <a:pt x="10004607" y="0"/>
                </a:lnTo>
                <a:lnTo>
                  <a:pt x="10004607" y="6890673"/>
                </a:lnTo>
                <a:lnTo>
                  <a:pt x="0" y="6890673"/>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6553200" y="1061535"/>
            <a:ext cx="4759108" cy="452047"/>
          </a:xfrm>
          <a:prstGeom prst="rect">
            <a:avLst/>
          </a:prstGeom>
        </p:spPr>
        <p:txBody>
          <a:bodyPr lIns="0" tIns="0" rIns="0" bIns="0" rtlCol="0" anchor="t">
            <a:spAutoFit/>
          </a:bodyPr>
          <a:lstStyle/>
          <a:p>
            <a:pPr algn="l">
              <a:lnSpc>
                <a:spcPts val="3240"/>
              </a:lnSpc>
            </a:pPr>
            <a:r>
              <a:rPr lang="en-US" sz="4800" b="1" dirty="0">
                <a:solidFill>
                  <a:srgbClr val="000000"/>
                </a:solidFill>
                <a:latin typeface="Times New Roman" panose="02020603050405020304" pitchFamily="18" charset="0"/>
                <a:ea typeface="Bicubik"/>
                <a:cs typeface="Times New Roman" panose="02020603050405020304" pitchFamily="18" charset="0"/>
                <a:sym typeface="Bicubik"/>
              </a:rPr>
              <a:t>MODELS</a:t>
            </a:r>
          </a:p>
        </p:txBody>
      </p:sp>
      <p:sp>
        <p:nvSpPr>
          <p:cNvPr id="4" name="TextBox 4"/>
          <p:cNvSpPr txBox="1"/>
          <p:nvPr/>
        </p:nvSpPr>
        <p:spPr>
          <a:xfrm>
            <a:off x="1028700" y="3303167"/>
            <a:ext cx="6210300" cy="5362494"/>
          </a:xfrm>
          <a:prstGeom prst="rect">
            <a:avLst/>
          </a:prstGeom>
        </p:spPr>
        <p:txBody>
          <a:bodyPr wrap="square" lIns="0" tIns="0" rIns="0" bIns="0" rtlCol="0" anchor="t">
            <a:spAutoFit/>
          </a:bodyPr>
          <a:lstStyle/>
          <a:p>
            <a:pPr algn="l">
              <a:lnSpc>
                <a:spcPts val="2799"/>
              </a:lnSpc>
            </a:pPr>
            <a:r>
              <a:rPr lang="en-US" sz="1999" spc="-79" dirty="0">
                <a:solidFill>
                  <a:srgbClr val="000000"/>
                </a:solidFill>
                <a:latin typeface="Canva Sans"/>
                <a:ea typeface="Canva Sans"/>
                <a:cs typeface="Canva Sans"/>
                <a:sym typeface="Canva Sans"/>
              </a:rPr>
              <a:t>Decision Tree is a rule-based model that splits data into branches based on feature values. It does not assume linear relationships and can capture complex patterns.</a:t>
            </a:r>
          </a:p>
          <a:p>
            <a:pPr algn="l">
              <a:lnSpc>
                <a:spcPts val="2799"/>
              </a:lnSpc>
            </a:pPr>
            <a:endParaRPr lang="en-US" sz="1999" spc="-79" dirty="0">
              <a:solidFill>
                <a:srgbClr val="000000"/>
              </a:solidFill>
              <a:latin typeface="Canva Sans"/>
              <a:ea typeface="Canva Sans"/>
              <a:cs typeface="Canva Sans"/>
              <a:sym typeface="Canva Sans"/>
            </a:endParaRPr>
          </a:p>
          <a:p>
            <a:pPr algn="l">
              <a:lnSpc>
                <a:spcPts val="2799"/>
              </a:lnSpc>
            </a:pPr>
            <a:r>
              <a:rPr lang="en-US" sz="1999" spc="-79" dirty="0">
                <a:solidFill>
                  <a:srgbClr val="000000"/>
                </a:solidFill>
                <a:latin typeface="Canva Sans"/>
                <a:ea typeface="Canva Sans"/>
                <a:cs typeface="Canva Sans"/>
                <a:sym typeface="Canva Sans"/>
              </a:rPr>
              <a:t>Why we are using Decision Tree</a:t>
            </a:r>
          </a:p>
          <a:p>
            <a:pPr algn="l">
              <a:lnSpc>
                <a:spcPts val="2799"/>
              </a:lnSpc>
            </a:pPr>
            <a:r>
              <a:rPr lang="en-US" sz="1999" spc="-79" dirty="0">
                <a:solidFill>
                  <a:srgbClr val="000000"/>
                </a:solidFill>
                <a:latin typeface="Canva Sans"/>
                <a:ea typeface="Canva Sans"/>
                <a:cs typeface="Canva Sans"/>
                <a:sym typeface="Canva Sans"/>
              </a:rPr>
              <a:t>Works well for non-linear data</a:t>
            </a:r>
          </a:p>
          <a:p>
            <a:pPr algn="l">
              <a:lnSpc>
                <a:spcPts val="2799"/>
              </a:lnSpc>
            </a:pPr>
            <a:r>
              <a:rPr lang="en-US" sz="1999" spc="-79" dirty="0">
                <a:solidFill>
                  <a:srgbClr val="000000"/>
                </a:solidFill>
                <a:latin typeface="Canva Sans"/>
                <a:ea typeface="Canva Sans"/>
                <a:cs typeface="Canva Sans"/>
                <a:sym typeface="Canva Sans"/>
              </a:rPr>
              <a:t>Easy to interpret (decision rules)</a:t>
            </a:r>
          </a:p>
          <a:p>
            <a:pPr algn="l">
              <a:lnSpc>
                <a:spcPts val="2799"/>
              </a:lnSpc>
            </a:pPr>
            <a:r>
              <a:rPr lang="en-US" sz="1999" spc="-79" dirty="0">
                <a:solidFill>
                  <a:srgbClr val="000000"/>
                </a:solidFill>
                <a:latin typeface="Canva Sans"/>
                <a:ea typeface="Canva Sans"/>
                <a:cs typeface="Canva Sans"/>
                <a:sym typeface="Canva Sans"/>
              </a:rPr>
              <a:t>No need for feature scaling</a:t>
            </a:r>
          </a:p>
          <a:p>
            <a:pPr algn="l">
              <a:lnSpc>
                <a:spcPts val="2799"/>
              </a:lnSpc>
            </a:pPr>
            <a:r>
              <a:rPr lang="en-US" sz="1999" spc="-79" dirty="0">
                <a:solidFill>
                  <a:srgbClr val="000000"/>
                </a:solidFill>
                <a:latin typeface="Canva Sans"/>
                <a:ea typeface="Canva Sans"/>
                <a:cs typeface="Canva Sans"/>
                <a:sym typeface="Canva Sans"/>
              </a:rPr>
              <a:t>Helps compare with KNN and Linear models</a:t>
            </a:r>
          </a:p>
          <a:p>
            <a:pPr algn="l">
              <a:lnSpc>
                <a:spcPts val="2799"/>
              </a:lnSpc>
            </a:pPr>
            <a:r>
              <a:rPr lang="en-US" sz="1999" spc="-79" dirty="0">
                <a:solidFill>
                  <a:srgbClr val="000000"/>
                </a:solidFill>
                <a:latin typeface="Canva Sans"/>
                <a:ea typeface="Canva Sans"/>
                <a:cs typeface="Canva Sans"/>
                <a:sym typeface="Canva Sans"/>
              </a:rPr>
              <a:t>Important Concept</a:t>
            </a:r>
          </a:p>
          <a:p>
            <a:pPr algn="l">
              <a:lnSpc>
                <a:spcPts val="2799"/>
              </a:lnSpc>
            </a:pPr>
            <a:endParaRPr lang="en-US" sz="1999" spc="-79" dirty="0">
              <a:solidFill>
                <a:srgbClr val="000000"/>
              </a:solidFill>
              <a:latin typeface="Canva Sans"/>
              <a:ea typeface="Canva Sans"/>
              <a:cs typeface="Canva Sans"/>
              <a:sym typeface="Canva Sans"/>
            </a:endParaRPr>
          </a:p>
          <a:p>
            <a:pPr algn="l">
              <a:lnSpc>
                <a:spcPts val="2799"/>
              </a:lnSpc>
            </a:pPr>
            <a:r>
              <a:rPr lang="en-US" sz="1999" spc="-79" dirty="0">
                <a:solidFill>
                  <a:srgbClr val="000000"/>
                </a:solidFill>
                <a:latin typeface="Canva Sans"/>
                <a:ea typeface="Canva Sans"/>
                <a:cs typeface="Canva Sans"/>
                <a:sym typeface="Canva Sans"/>
              </a:rPr>
              <a:t>Decision Trees can easily overfit if not controlled, because they try to perfectly fit training data.</a:t>
            </a:r>
          </a:p>
          <a:p>
            <a:pPr algn="l">
              <a:lnSpc>
                <a:spcPts val="2799"/>
              </a:lnSpc>
            </a:pPr>
            <a:endParaRPr lang="en-US" sz="1999" spc="-79" dirty="0">
              <a:solidFill>
                <a:srgbClr val="000000"/>
              </a:solidFill>
              <a:latin typeface="Canva Sans"/>
              <a:ea typeface="Canva Sans"/>
              <a:cs typeface="Canva Sans"/>
              <a:sym typeface="Canva Sans"/>
            </a:endParaRPr>
          </a:p>
        </p:txBody>
      </p:sp>
      <p:sp>
        <p:nvSpPr>
          <p:cNvPr id="5" name="TextBox 5"/>
          <p:cNvSpPr txBox="1"/>
          <p:nvPr/>
        </p:nvSpPr>
        <p:spPr>
          <a:xfrm>
            <a:off x="1028700" y="2296692"/>
            <a:ext cx="6438900" cy="375231"/>
          </a:xfrm>
          <a:prstGeom prst="rect">
            <a:avLst/>
          </a:prstGeom>
        </p:spPr>
        <p:txBody>
          <a:bodyPr wrap="square" lIns="0" tIns="0" rIns="0" bIns="0" rtlCol="0" anchor="t">
            <a:spAutoFit/>
          </a:bodyPr>
          <a:lstStyle/>
          <a:p>
            <a:pPr algn="l">
              <a:lnSpc>
                <a:spcPts val="2799"/>
              </a:lnSpc>
            </a:pPr>
            <a:r>
              <a:rPr lang="en-US" sz="3200" b="1" spc="-79" dirty="0">
                <a:solidFill>
                  <a:srgbClr val="000000"/>
                </a:solidFill>
                <a:latin typeface="Canva Sans Bold"/>
                <a:ea typeface="Canva Sans Bold"/>
                <a:cs typeface="Canva Sans Bold"/>
                <a:sym typeface="Canva Sans Bold"/>
              </a:rPr>
              <a:t>DECISION TREE REGRESSION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16410" y="4610100"/>
            <a:ext cx="5568889" cy="5275790"/>
          </a:xfrm>
          <a:custGeom>
            <a:avLst/>
            <a:gdLst/>
            <a:ahLst/>
            <a:cxnLst/>
            <a:rect l="l" t="t" r="r" b="b"/>
            <a:pathLst>
              <a:path w="5568889" h="5275790">
                <a:moveTo>
                  <a:pt x="0" y="0"/>
                </a:moveTo>
                <a:lnTo>
                  <a:pt x="5568889" y="0"/>
                </a:lnTo>
                <a:lnTo>
                  <a:pt x="5568889" y="5275790"/>
                </a:lnTo>
                <a:lnTo>
                  <a:pt x="0" y="5275790"/>
                </a:lnTo>
                <a:lnTo>
                  <a:pt x="0" y="0"/>
                </a:lnTo>
                <a:close/>
              </a:path>
            </a:pathLst>
          </a:custGeom>
          <a:blipFill>
            <a:blip r:embed="rId2"/>
            <a:stretch>
              <a:fillRect/>
            </a:stretch>
          </a:blipFill>
        </p:spPr>
        <p:txBody>
          <a:bodyPr/>
          <a:lstStyle/>
          <a:p>
            <a:endParaRPr lang="en-IN"/>
          </a:p>
        </p:txBody>
      </p:sp>
      <p:sp>
        <p:nvSpPr>
          <p:cNvPr id="3" name="Freeform 3"/>
          <p:cNvSpPr/>
          <p:nvPr/>
        </p:nvSpPr>
        <p:spPr>
          <a:xfrm>
            <a:off x="8629650" y="4029416"/>
            <a:ext cx="8565228" cy="5856474"/>
          </a:xfrm>
          <a:custGeom>
            <a:avLst/>
            <a:gdLst/>
            <a:ahLst/>
            <a:cxnLst/>
            <a:rect l="l" t="t" r="r" b="b"/>
            <a:pathLst>
              <a:path w="8565228" h="5856474">
                <a:moveTo>
                  <a:pt x="0" y="0"/>
                </a:moveTo>
                <a:lnTo>
                  <a:pt x="8565228" y="0"/>
                </a:lnTo>
                <a:lnTo>
                  <a:pt x="8565228" y="5856475"/>
                </a:lnTo>
                <a:lnTo>
                  <a:pt x="0" y="5856475"/>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028700" y="1271192"/>
            <a:ext cx="15201900" cy="452047"/>
          </a:xfrm>
          <a:prstGeom prst="rect">
            <a:avLst/>
          </a:prstGeom>
        </p:spPr>
        <p:txBody>
          <a:bodyPr wrap="square" lIns="0" tIns="0" rIns="0" bIns="0" rtlCol="0" anchor="t">
            <a:spAutoFit/>
          </a:bodyPr>
          <a:lstStyle/>
          <a:p>
            <a:pPr algn="l">
              <a:lnSpc>
                <a:spcPts val="3240"/>
              </a:lnSpc>
            </a:pPr>
            <a:r>
              <a:rPr lang="en-US" sz="4800" b="1" dirty="0">
                <a:solidFill>
                  <a:srgbClr val="000000"/>
                </a:solidFill>
                <a:latin typeface="Times New Roman" panose="02020603050405020304" pitchFamily="18" charset="0"/>
                <a:ea typeface="Bicubik"/>
                <a:cs typeface="Times New Roman" panose="02020603050405020304" pitchFamily="18" charset="0"/>
                <a:sym typeface="Bicubik"/>
              </a:rPr>
              <a:t>PCA (PRINCIPAL COMPONENT ANALYSIS)</a:t>
            </a:r>
          </a:p>
        </p:txBody>
      </p:sp>
      <p:sp>
        <p:nvSpPr>
          <p:cNvPr id="5" name="TextBox 5"/>
          <p:cNvSpPr txBox="1"/>
          <p:nvPr/>
        </p:nvSpPr>
        <p:spPr>
          <a:xfrm>
            <a:off x="1055739" y="2126163"/>
            <a:ext cx="15936861" cy="2244204"/>
          </a:xfrm>
          <a:prstGeom prst="rect">
            <a:avLst/>
          </a:prstGeom>
        </p:spPr>
        <p:txBody>
          <a:bodyPr wrap="square" lIns="0" tIns="0" rIns="0" bIns="0" rtlCol="0" anchor="t">
            <a:spAutoFit/>
          </a:bodyPr>
          <a:lstStyle/>
          <a:p>
            <a:pPr algn="l">
              <a:lnSpc>
                <a:spcPts val="2520"/>
              </a:lnSpc>
            </a:pPr>
            <a:r>
              <a:rPr lang="en-US" sz="2400" dirty="0">
                <a:solidFill>
                  <a:srgbClr val="000000"/>
                </a:solidFill>
                <a:latin typeface="Canva Sans"/>
                <a:ea typeface="Canva Sans"/>
                <a:cs typeface="Canva Sans"/>
                <a:sym typeface="Canva Sans"/>
              </a:rPr>
              <a:t>PCA reduces high-dimensional data into a smaller number of components while preserving as much variance as possible.</a:t>
            </a:r>
          </a:p>
          <a:p>
            <a:pPr algn="l">
              <a:lnSpc>
                <a:spcPts val="2520"/>
              </a:lnSpc>
            </a:pPr>
            <a:endParaRPr lang="en-US" sz="2400" dirty="0">
              <a:solidFill>
                <a:srgbClr val="000000"/>
              </a:solidFill>
              <a:latin typeface="Canva Sans"/>
              <a:ea typeface="Canva Sans"/>
              <a:cs typeface="Canva Sans"/>
              <a:sym typeface="Canva Sans"/>
            </a:endParaRPr>
          </a:p>
          <a:p>
            <a:pPr algn="l">
              <a:lnSpc>
                <a:spcPts val="2520"/>
              </a:lnSpc>
            </a:pPr>
            <a:r>
              <a:rPr lang="en-US" sz="2400" dirty="0">
                <a:solidFill>
                  <a:srgbClr val="000000"/>
                </a:solidFill>
                <a:latin typeface="Canva Sans"/>
                <a:ea typeface="Canva Sans"/>
                <a:cs typeface="Canva Sans"/>
                <a:sym typeface="Canva Sans"/>
              </a:rPr>
              <a:t>Here, PCA is mainly used for:</a:t>
            </a:r>
          </a:p>
          <a:p>
            <a:pPr algn="l">
              <a:lnSpc>
                <a:spcPts val="2520"/>
              </a:lnSpc>
            </a:pPr>
            <a:r>
              <a:rPr lang="en-US" sz="2400" dirty="0">
                <a:solidFill>
                  <a:srgbClr val="000000"/>
                </a:solidFill>
                <a:latin typeface="Canva Sans"/>
                <a:ea typeface="Canva Sans"/>
                <a:cs typeface="Canva Sans"/>
                <a:sym typeface="Canva Sans"/>
              </a:rPr>
              <a:t>- visualizing the dataset in 2 dimensions</a:t>
            </a:r>
          </a:p>
          <a:p>
            <a:pPr algn="l">
              <a:lnSpc>
                <a:spcPts val="2520"/>
              </a:lnSpc>
            </a:pPr>
            <a:r>
              <a:rPr lang="en-US" sz="2400" dirty="0">
                <a:solidFill>
                  <a:srgbClr val="000000"/>
                </a:solidFill>
                <a:latin typeface="Canva Sans"/>
                <a:ea typeface="Canva Sans"/>
                <a:cs typeface="Canva Sans"/>
                <a:sym typeface="Canva Sans"/>
              </a:rPr>
              <a:t>- understanding structure in compressed form</a:t>
            </a:r>
          </a:p>
          <a:p>
            <a:pPr algn="ctr">
              <a:lnSpc>
                <a:spcPts val="2520"/>
              </a:lnSpc>
            </a:pPr>
            <a:endParaRPr lang="en-US" sz="2400" dirty="0">
              <a:solidFill>
                <a:srgbClr val="000000"/>
              </a:solidFill>
              <a:latin typeface="Canva Sans"/>
              <a:ea typeface="Canva Sans"/>
              <a:cs typeface="Canva Sans"/>
              <a:sym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91600" y="1506870"/>
            <a:ext cx="6856126" cy="4322430"/>
          </a:xfrm>
          <a:custGeom>
            <a:avLst/>
            <a:gdLst/>
            <a:ahLst/>
            <a:cxnLst/>
            <a:rect l="l" t="t" r="r" b="b"/>
            <a:pathLst>
              <a:path w="4976942" h="3581616">
                <a:moveTo>
                  <a:pt x="0" y="0"/>
                </a:moveTo>
                <a:lnTo>
                  <a:pt x="4976942" y="0"/>
                </a:lnTo>
                <a:lnTo>
                  <a:pt x="4976942" y="3581616"/>
                </a:lnTo>
                <a:lnTo>
                  <a:pt x="0" y="3581616"/>
                </a:lnTo>
                <a:lnTo>
                  <a:pt x="0" y="0"/>
                </a:lnTo>
                <a:close/>
              </a:path>
            </a:pathLst>
          </a:custGeom>
          <a:blipFill>
            <a:blip r:embed="rId2"/>
            <a:stretch>
              <a:fillRect l="-1914" t="-2905" b="-1631"/>
            </a:stretch>
          </a:blipFill>
        </p:spPr>
        <p:txBody>
          <a:bodyPr/>
          <a:lstStyle/>
          <a:p>
            <a:endParaRPr lang="en-IN" dirty="0"/>
          </a:p>
        </p:txBody>
      </p:sp>
      <p:sp>
        <p:nvSpPr>
          <p:cNvPr id="3" name="Freeform 3"/>
          <p:cNvSpPr/>
          <p:nvPr/>
        </p:nvSpPr>
        <p:spPr>
          <a:xfrm>
            <a:off x="523894" y="4976312"/>
            <a:ext cx="6257905" cy="4721008"/>
          </a:xfrm>
          <a:custGeom>
            <a:avLst/>
            <a:gdLst/>
            <a:ahLst/>
            <a:cxnLst/>
            <a:rect l="l" t="t" r="r" b="b"/>
            <a:pathLst>
              <a:path w="5392416" h="4188679">
                <a:moveTo>
                  <a:pt x="0" y="0"/>
                </a:moveTo>
                <a:lnTo>
                  <a:pt x="5392417" y="0"/>
                </a:lnTo>
                <a:lnTo>
                  <a:pt x="5392417" y="4188679"/>
                </a:lnTo>
                <a:lnTo>
                  <a:pt x="0" y="4188679"/>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523894" y="1451392"/>
            <a:ext cx="7962900" cy="2848985"/>
          </a:xfrm>
          <a:prstGeom prst="rect">
            <a:avLst/>
          </a:prstGeom>
        </p:spPr>
        <p:txBody>
          <a:bodyPr wrap="square" lIns="0" tIns="0" rIns="0" bIns="0" rtlCol="0" anchor="t">
            <a:spAutoFit/>
          </a:bodyPr>
          <a:lstStyle/>
          <a:p>
            <a:pPr algn="l">
              <a:lnSpc>
                <a:spcPts val="2799"/>
              </a:lnSpc>
            </a:pPr>
            <a:r>
              <a:rPr lang="en-US" sz="1999" spc="-79" dirty="0">
                <a:solidFill>
                  <a:srgbClr val="000000"/>
                </a:solidFill>
                <a:latin typeface="Canva Sans"/>
                <a:ea typeface="Canva Sans"/>
                <a:cs typeface="Canva Sans"/>
                <a:sym typeface="Canva Sans"/>
              </a:rPr>
              <a:t>Hyperparameter tuning is the process of choosing the best values of model settings (like k in KNN) to get the most accurate predictions.</a:t>
            </a:r>
          </a:p>
          <a:p>
            <a:pPr algn="l">
              <a:lnSpc>
                <a:spcPts val="2799"/>
              </a:lnSpc>
            </a:pPr>
            <a:r>
              <a:rPr lang="en-US" sz="1999" spc="-79" dirty="0">
                <a:solidFill>
                  <a:srgbClr val="000000"/>
                </a:solidFill>
                <a:latin typeface="Canva Sans"/>
                <a:ea typeface="Canva Sans"/>
                <a:cs typeface="Canva Sans"/>
                <a:sym typeface="Canva Sans"/>
              </a:rPr>
              <a:t>We use hyperparameter tuning because:</a:t>
            </a:r>
          </a:p>
          <a:p>
            <a:pPr marL="431797" lvl="1" indent="-215899" algn="l">
              <a:lnSpc>
                <a:spcPts val="2799"/>
              </a:lnSpc>
              <a:buFont typeface="Arial"/>
              <a:buChar char="•"/>
            </a:pPr>
            <a:r>
              <a:rPr lang="en-US" sz="1999" spc="-79" dirty="0">
                <a:solidFill>
                  <a:srgbClr val="000000"/>
                </a:solidFill>
                <a:latin typeface="Canva Sans"/>
                <a:ea typeface="Canva Sans"/>
                <a:cs typeface="Canva Sans"/>
                <a:sym typeface="Canva Sans"/>
              </a:rPr>
              <a:t>It helps improve the model’s accuracy and performance</a:t>
            </a:r>
          </a:p>
          <a:p>
            <a:pPr marL="431797" lvl="1" indent="-215899" algn="l">
              <a:lnSpc>
                <a:spcPts val="2799"/>
              </a:lnSpc>
              <a:buFont typeface="Arial"/>
              <a:buChar char="•"/>
            </a:pPr>
            <a:r>
              <a:rPr lang="en-US" sz="1999" spc="-79" dirty="0">
                <a:solidFill>
                  <a:srgbClr val="000000"/>
                </a:solidFill>
                <a:latin typeface="Canva Sans"/>
                <a:ea typeface="Canva Sans"/>
                <a:cs typeface="Canva Sans"/>
                <a:sym typeface="Canva Sans"/>
              </a:rPr>
              <a:t>It finds the best combination of parameters instead of using random values</a:t>
            </a:r>
          </a:p>
          <a:p>
            <a:pPr marL="431797" lvl="1" indent="-215899" algn="l">
              <a:lnSpc>
                <a:spcPts val="2799"/>
              </a:lnSpc>
              <a:buFont typeface="Arial"/>
              <a:buChar char="•"/>
            </a:pPr>
            <a:r>
              <a:rPr lang="en-US" sz="1999" spc="-79" dirty="0">
                <a:solidFill>
                  <a:srgbClr val="000000"/>
                </a:solidFill>
                <a:latin typeface="Canva Sans"/>
                <a:ea typeface="Canva Sans"/>
                <a:cs typeface="Canva Sans"/>
                <a:sym typeface="Canva Sans"/>
              </a:rPr>
              <a:t>It makes the model more reliable and efficient</a:t>
            </a:r>
          </a:p>
          <a:p>
            <a:pPr algn="l">
              <a:lnSpc>
                <a:spcPts val="2799"/>
              </a:lnSpc>
            </a:pPr>
            <a:endParaRPr lang="en-US" sz="1999" spc="-79" dirty="0">
              <a:solidFill>
                <a:srgbClr val="000000"/>
              </a:solidFill>
              <a:latin typeface="Canva Sans"/>
              <a:ea typeface="Canva Sans"/>
              <a:cs typeface="Canva Sans"/>
              <a:sym typeface="Canva Sans"/>
            </a:endParaRPr>
          </a:p>
        </p:txBody>
      </p:sp>
      <p:sp>
        <p:nvSpPr>
          <p:cNvPr id="5" name="TextBox 5"/>
          <p:cNvSpPr txBox="1"/>
          <p:nvPr/>
        </p:nvSpPr>
        <p:spPr>
          <a:xfrm>
            <a:off x="523894" y="675619"/>
            <a:ext cx="11010900" cy="1282402"/>
          </a:xfrm>
          <a:prstGeom prst="rect">
            <a:avLst/>
          </a:prstGeom>
        </p:spPr>
        <p:txBody>
          <a:bodyPr wrap="square" lIns="0" tIns="0" rIns="0" bIns="0" rtlCol="0" anchor="t">
            <a:spAutoFit/>
          </a:bodyPr>
          <a:lstStyle/>
          <a:p>
            <a:pPr algn="l">
              <a:lnSpc>
                <a:spcPts val="5040"/>
              </a:lnSpc>
            </a:pPr>
            <a:r>
              <a:rPr lang="en-US" sz="4800" b="1" spc="-144" dirty="0">
                <a:solidFill>
                  <a:srgbClr val="000000"/>
                </a:solidFill>
                <a:latin typeface="Times New Roman" panose="02020603050405020304" pitchFamily="18" charset="0"/>
                <a:ea typeface="Bicubik"/>
                <a:cs typeface="Times New Roman" panose="02020603050405020304" pitchFamily="18" charset="0"/>
                <a:sym typeface="Bicubik"/>
              </a:rPr>
              <a:t>HYPERPARAMETER TUNING IN KNN</a:t>
            </a:r>
          </a:p>
          <a:p>
            <a:pPr algn="l">
              <a:lnSpc>
                <a:spcPts val="5040"/>
              </a:lnSpc>
            </a:pPr>
            <a:endParaRPr lang="en-US" sz="4800" b="1" spc="-144" dirty="0">
              <a:solidFill>
                <a:srgbClr val="000000"/>
              </a:solidFill>
              <a:latin typeface="Times New Roman" panose="02020603050405020304" pitchFamily="18" charset="0"/>
              <a:ea typeface="Bicubik"/>
              <a:cs typeface="Times New Roman" panose="02020603050405020304" pitchFamily="18" charset="0"/>
              <a:sym typeface="Bicubik"/>
            </a:endParaRPr>
          </a:p>
        </p:txBody>
      </p:sp>
      <p:sp>
        <p:nvSpPr>
          <p:cNvPr id="6" name="TextBox 6"/>
          <p:cNvSpPr txBox="1"/>
          <p:nvPr/>
        </p:nvSpPr>
        <p:spPr>
          <a:xfrm>
            <a:off x="7964129" y="6329984"/>
            <a:ext cx="6856126" cy="628377"/>
          </a:xfrm>
          <a:prstGeom prst="rect">
            <a:avLst/>
          </a:prstGeom>
        </p:spPr>
        <p:txBody>
          <a:bodyPr wrap="square" lIns="0" tIns="0" rIns="0" bIns="0" rtlCol="0" anchor="t">
            <a:spAutoFit/>
          </a:bodyPr>
          <a:lstStyle/>
          <a:p>
            <a:pPr algn="l">
              <a:lnSpc>
                <a:spcPts val="4909"/>
              </a:lnSpc>
            </a:pPr>
            <a:r>
              <a:rPr lang="en-US" sz="4800" b="1" spc="-140" dirty="0">
                <a:solidFill>
                  <a:srgbClr val="000000"/>
                </a:solidFill>
                <a:latin typeface="Times New Roman" panose="02020603050405020304" pitchFamily="18" charset="0"/>
                <a:ea typeface="Bicubik"/>
                <a:cs typeface="Times New Roman" panose="02020603050405020304" pitchFamily="18" charset="0"/>
                <a:sym typeface="Bicubik"/>
              </a:rPr>
              <a:t>CROSS VALIDATION</a:t>
            </a:r>
          </a:p>
        </p:txBody>
      </p:sp>
      <p:sp>
        <p:nvSpPr>
          <p:cNvPr id="7" name="TextBox 7"/>
          <p:cNvSpPr txBox="1"/>
          <p:nvPr/>
        </p:nvSpPr>
        <p:spPr>
          <a:xfrm>
            <a:off x="7964129" y="7048500"/>
            <a:ext cx="8570536" cy="2130840"/>
          </a:xfrm>
          <a:prstGeom prst="rect">
            <a:avLst/>
          </a:prstGeom>
        </p:spPr>
        <p:txBody>
          <a:bodyPr lIns="0" tIns="0" rIns="0" bIns="0" rtlCol="0" anchor="t">
            <a:spAutoFit/>
          </a:bodyPr>
          <a:lstStyle/>
          <a:p>
            <a:pPr algn="l">
              <a:lnSpc>
                <a:spcPts val="2799"/>
              </a:lnSpc>
            </a:pPr>
            <a:r>
              <a:rPr lang="en-US" sz="1999" spc="-79" dirty="0">
                <a:solidFill>
                  <a:srgbClr val="000000"/>
                </a:solidFill>
                <a:latin typeface="Canva Sans"/>
                <a:ea typeface="Canva Sans"/>
                <a:cs typeface="Canva Sans"/>
                <a:sym typeface="Canva Sans"/>
              </a:rPr>
              <a:t>It gives a more reliable estimate by repeatedly training and validating the model on different folds of the training data.</a:t>
            </a:r>
          </a:p>
          <a:p>
            <a:pPr algn="l">
              <a:lnSpc>
                <a:spcPts val="2799"/>
              </a:lnSpc>
            </a:pPr>
            <a:r>
              <a:rPr lang="en-US" sz="1999" spc="-79" dirty="0">
                <a:solidFill>
                  <a:srgbClr val="000000"/>
                </a:solidFill>
                <a:latin typeface="Canva Sans"/>
                <a:ea typeface="Canva Sans"/>
                <a:cs typeface="Canva Sans"/>
                <a:sym typeface="Canva Sans"/>
              </a:rPr>
              <a:t>Why use Cross Validation?</a:t>
            </a:r>
          </a:p>
          <a:p>
            <a:pPr algn="l">
              <a:lnSpc>
                <a:spcPts val="2799"/>
              </a:lnSpc>
            </a:pPr>
            <a:r>
              <a:rPr lang="en-US" sz="1999" spc="-79" dirty="0">
                <a:solidFill>
                  <a:srgbClr val="000000"/>
                </a:solidFill>
                <a:latin typeface="Canva Sans"/>
                <a:ea typeface="Canva Sans"/>
                <a:cs typeface="Canva Sans"/>
                <a:sym typeface="Canva Sans"/>
              </a:rPr>
              <a:t>- Reduces dependence on one random split</a:t>
            </a:r>
          </a:p>
          <a:p>
            <a:pPr algn="l">
              <a:lnSpc>
                <a:spcPts val="2799"/>
              </a:lnSpc>
            </a:pPr>
            <a:r>
              <a:rPr lang="en-US" sz="1999" spc="-79" dirty="0">
                <a:solidFill>
                  <a:srgbClr val="000000"/>
                </a:solidFill>
                <a:latin typeface="Canva Sans"/>
                <a:ea typeface="Canva Sans"/>
                <a:cs typeface="Canva Sans"/>
                <a:sym typeface="Canva Sans"/>
              </a:rPr>
              <a:t>- Gives a more stable estimate of model performance</a:t>
            </a:r>
          </a:p>
          <a:p>
            <a:pPr algn="l">
              <a:lnSpc>
                <a:spcPts val="2799"/>
              </a:lnSpc>
            </a:pPr>
            <a:r>
              <a:rPr lang="en-US" sz="1999" spc="-79" dirty="0">
                <a:solidFill>
                  <a:srgbClr val="000000"/>
                </a:solidFill>
                <a:latin typeface="Canva Sans"/>
                <a:ea typeface="Canva Sans"/>
                <a:cs typeface="Canva Sans"/>
                <a:sym typeface="Canva Sans"/>
              </a:rPr>
              <a:t>- Helps check whether the model generalizes consistently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782521" y="5024305"/>
            <a:ext cx="476779" cy="119195"/>
          </a:xfrm>
          <a:custGeom>
            <a:avLst/>
            <a:gdLst/>
            <a:ahLst/>
            <a:cxnLst/>
            <a:rect l="l" t="t" r="r" b="b"/>
            <a:pathLst>
              <a:path w="476779" h="119195">
                <a:moveTo>
                  <a:pt x="0" y="0"/>
                </a:moveTo>
                <a:lnTo>
                  <a:pt x="476779" y="0"/>
                </a:lnTo>
                <a:lnTo>
                  <a:pt x="476779" y="119195"/>
                </a:lnTo>
                <a:lnTo>
                  <a:pt x="0" y="11919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952205" y="1943100"/>
            <a:ext cx="8191795" cy="7086600"/>
          </a:xfrm>
          <a:custGeom>
            <a:avLst/>
            <a:gdLst/>
            <a:ahLst/>
            <a:cxnLst/>
            <a:rect l="l" t="t" r="r" b="b"/>
            <a:pathLst>
              <a:path w="8191795" h="5865281">
                <a:moveTo>
                  <a:pt x="0" y="0"/>
                </a:moveTo>
                <a:lnTo>
                  <a:pt x="8191795" y="0"/>
                </a:lnTo>
                <a:lnTo>
                  <a:pt x="8191795" y="5865282"/>
                </a:lnTo>
                <a:lnTo>
                  <a:pt x="0" y="5865282"/>
                </a:lnTo>
                <a:lnTo>
                  <a:pt x="0" y="0"/>
                </a:lnTo>
                <a:close/>
              </a:path>
            </a:pathLst>
          </a:custGeom>
          <a:blipFill>
            <a:blip r:embed="rId3"/>
            <a:stretch>
              <a:fillRect l="-3955"/>
            </a:stretch>
          </a:blipFill>
        </p:spPr>
        <p:txBody>
          <a:bodyPr/>
          <a:lstStyle/>
          <a:p>
            <a:endParaRPr lang="en-IN"/>
          </a:p>
        </p:txBody>
      </p:sp>
      <p:sp>
        <p:nvSpPr>
          <p:cNvPr id="4" name="Freeform 4"/>
          <p:cNvSpPr/>
          <p:nvPr/>
        </p:nvSpPr>
        <p:spPr>
          <a:xfrm>
            <a:off x="9919378" y="6965681"/>
            <a:ext cx="7101532" cy="1920184"/>
          </a:xfrm>
          <a:custGeom>
            <a:avLst/>
            <a:gdLst/>
            <a:ahLst/>
            <a:cxnLst/>
            <a:rect l="l" t="t" r="r" b="b"/>
            <a:pathLst>
              <a:path w="7101532" h="1920184">
                <a:moveTo>
                  <a:pt x="0" y="0"/>
                </a:moveTo>
                <a:lnTo>
                  <a:pt x="7101531" y="0"/>
                </a:lnTo>
                <a:lnTo>
                  <a:pt x="7101531" y="1920184"/>
                </a:lnTo>
                <a:lnTo>
                  <a:pt x="0" y="1920184"/>
                </a:lnTo>
                <a:lnTo>
                  <a:pt x="0" y="0"/>
                </a:lnTo>
                <a:close/>
              </a:path>
            </a:pathLst>
          </a:custGeom>
          <a:blipFill>
            <a:blip r:embed="rId4"/>
            <a:stretch>
              <a:fillRect l="-2067" r="-2067"/>
            </a:stretch>
          </a:blipFill>
        </p:spPr>
        <p:txBody>
          <a:bodyPr/>
          <a:lstStyle/>
          <a:p>
            <a:endParaRPr lang="en-IN"/>
          </a:p>
        </p:txBody>
      </p:sp>
      <p:grpSp>
        <p:nvGrpSpPr>
          <p:cNvPr id="5" name="Group 5"/>
          <p:cNvGrpSpPr/>
          <p:nvPr/>
        </p:nvGrpSpPr>
        <p:grpSpPr>
          <a:xfrm>
            <a:off x="9488006" y="5830607"/>
            <a:ext cx="1179983" cy="417536"/>
            <a:chOff x="0" y="0"/>
            <a:chExt cx="310777" cy="109968"/>
          </a:xfrm>
        </p:grpSpPr>
        <p:sp>
          <p:nvSpPr>
            <p:cNvPr id="6" name="Freeform 6"/>
            <p:cNvSpPr/>
            <p:nvPr/>
          </p:nvSpPr>
          <p:spPr>
            <a:xfrm>
              <a:off x="0" y="0"/>
              <a:ext cx="310777" cy="109968"/>
            </a:xfrm>
            <a:custGeom>
              <a:avLst/>
              <a:gdLst/>
              <a:ahLst/>
              <a:cxnLst/>
              <a:rect l="l" t="t" r="r" b="b"/>
              <a:pathLst>
                <a:path w="310777" h="109968">
                  <a:moveTo>
                    <a:pt x="0" y="0"/>
                  </a:moveTo>
                  <a:lnTo>
                    <a:pt x="310777" y="0"/>
                  </a:lnTo>
                  <a:lnTo>
                    <a:pt x="310777" y="109968"/>
                  </a:lnTo>
                  <a:lnTo>
                    <a:pt x="0" y="109968"/>
                  </a:lnTo>
                  <a:close/>
                </a:path>
              </a:pathLst>
            </a:custGeom>
            <a:solidFill>
              <a:srgbClr val="FFFFFF"/>
            </a:solidFill>
          </p:spPr>
          <p:txBody>
            <a:bodyPr/>
            <a:lstStyle/>
            <a:p>
              <a:endParaRPr lang="en-IN"/>
            </a:p>
          </p:txBody>
        </p:sp>
        <p:sp>
          <p:nvSpPr>
            <p:cNvPr id="7" name="TextBox 7"/>
            <p:cNvSpPr txBox="1"/>
            <p:nvPr/>
          </p:nvSpPr>
          <p:spPr>
            <a:xfrm>
              <a:off x="0" y="-38100"/>
              <a:ext cx="310777" cy="148068"/>
            </a:xfrm>
            <a:prstGeom prst="rect">
              <a:avLst/>
            </a:prstGeom>
          </p:spPr>
          <p:txBody>
            <a:bodyPr lIns="50800" tIns="50800" rIns="50800" bIns="50800" rtlCol="0" anchor="ctr"/>
            <a:lstStyle/>
            <a:p>
              <a:pPr algn="ctr">
                <a:lnSpc>
                  <a:spcPts val="2799"/>
                </a:lnSpc>
              </a:pPr>
              <a:endParaRPr/>
            </a:p>
          </p:txBody>
        </p:sp>
      </p:grpSp>
      <p:sp>
        <p:nvSpPr>
          <p:cNvPr id="8" name="TextBox 8"/>
          <p:cNvSpPr txBox="1"/>
          <p:nvPr/>
        </p:nvSpPr>
        <p:spPr>
          <a:xfrm>
            <a:off x="1394668" y="952500"/>
            <a:ext cx="7088543" cy="452047"/>
          </a:xfrm>
          <a:prstGeom prst="rect">
            <a:avLst/>
          </a:prstGeom>
        </p:spPr>
        <p:txBody>
          <a:bodyPr lIns="0" tIns="0" rIns="0" bIns="0" rtlCol="0" anchor="t">
            <a:spAutoFit/>
          </a:bodyPr>
          <a:lstStyle/>
          <a:p>
            <a:pPr algn="l">
              <a:lnSpc>
                <a:spcPts val="3240"/>
              </a:lnSpc>
            </a:pPr>
            <a:r>
              <a:rPr lang="en-US" sz="4800" b="1" dirty="0">
                <a:solidFill>
                  <a:srgbClr val="000000"/>
                </a:solidFill>
                <a:latin typeface="Times New Roman" panose="02020603050405020304" pitchFamily="18" charset="0"/>
                <a:ea typeface="Bicubik"/>
                <a:cs typeface="Times New Roman" panose="02020603050405020304" pitchFamily="18" charset="0"/>
                <a:sym typeface="Bicubik"/>
              </a:rPr>
              <a:t>FINAL MODEL</a:t>
            </a:r>
          </a:p>
        </p:txBody>
      </p:sp>
      <p:sp>
        <p:nvSpPr>
          <p:cNvPr id="9" name="TextBox 9"/>
          <p:cNvSpPr txBox="1"/>
          <p:nvPr/>
        </p:nvSpPr>
        <p:spPr>
          <a:xfrm>
            <a:off x="9906295" y="1963773"/>
            <a:ext cx="7429500" cy="3722173"/>
          </a:xfrm>
          <a:prstGeom prst="rect">
            <a:avLst/>
          </a:prstGeom>
        </p:spPr>
        <p:txBody>
          <a:bodyPr wrap="square" lIns="0" tIns="0" rIns="0" bIns="0" rtlCol="0" anchor="t">
            <a:spAutoFit/>
          </a:bodyPr>
          <a:lstStyle/>
          <a:p>
            <a:pPr algn="l"/>
            <a:r>
              <a:rPr lang="en-US" sz="3200" dirty="0">
                <a:solidFill>
                  <a:srgbClr val="000000"/>
                </a:solidFill>
                <a:latin typeface="Canva Sans"/>
                <a:ea typeface="Canva Sans"/>
                <a:cs typeface="Canva Sans"/>
                <a:sym typeface="Canva Sans"/>
              </a:rPr>
              <a:t>Although </a:t>
            </a:r>
            <a:r>
              <a:rPr lang="en-US" sz="3200" b="1" dirty="0">
                <a:solidFill>
                  <a:srgbClr val="000000"/>
                </a:solidFill>
                <a:latin typeface="Canva Sans"/>
                <a:ea typeface="Canva Sans"/>
                <a:cs typeface="Canva Sans"/>
                <a:sym typeface="Canva Sans"/>
              </a:rPr>
              <a:t>KNN</a:t>
            </a:r>
            <a:r>
              <a:rPr lang="en-US" sz="3200" dirty="0">
                <a:solidFill>
                  <a:srgbClr val="000000"/>
                </a:solidFill>
                <a:latin typeface="Canva Sans"/>
                <a:ea typeface="Canva Sans"/>
                <a:cs typeface="Canva Sans"/>
                <a:sym typeface="Canva Sans"/>
              </a:rPr>
              <a:t> may achieve the highest R² in a single split, </a:t>
            </a:r>
            <a:r>
              <a:rPr lang="en-US" sz="4000" b="1" dirty="0">
                <a:solidFill>
                  <a:srgbClr val="000000"/>
                </a:solidFill>
                <a:latin typeface="Canva Sans"/>
                <a:ea typeface="Canva Sans"/>
                <a:cs typeface="Canva Sans"/>
                <a:sym typeface="Canva Sans"/>
              </a:rPr>
              <a:t>RANDOM FOREST</a:t>
            </a:r>
            <a:r>
              <a:rPr lang="en-US" sz="3200" b="1" dirty="0">
                <a:solidFill>
                  <a:srgbClr val="000000"/>
                </a:solidFill>
                <a:latin typeface="Canva Sans"/>
                <a:ea typeface="Canva Sans"/>
                <a:cs typeface="Canva Sans"/>
                <a:sym typeface="Canva Sans"/>
              </a:rPr>
              <a:t> </a:t>
            </a:r>
            <a:r>
              <a:rPr lang="en-US" sz="3200" dirty="0">
                <a:solidFill>
                  <a:srgbClr val="000000"/>
                </a:solidFill>
                <a:latin typeface="Canva Sans"/>
                <a:ea typeface="Canva Sans"/>
                <a:cs typeface="Canva Sans"/>
                <a:sym typeface="Canva Sans"/>
              </a:rPr>
              <a:t>is selected as the final model because it </a:t>
            </a:r>
            <a:r>
              <a:rPr lang="en-US" sz="3200" b="1" i="1" dirty="0">
                <a:solidFill>
                  <a:srgbClr val="000000"/>
                </a:solidFill>
                <a:latin typeface="Canva Sans"/>
                <a:ea typeface="Canva Sans"/>
                <a:cs typeface="Canva Sans"/>
                <a:sym typeface="Canva Sans"/>
              </a:rPr>
              <a:t>is more stable, less sensitive to noise, and generalizes better</a:t>
            </a:r>
            <a:r>
              <a:rPr lang="en-US" sz="3200" dirty="0">
                <a:solidFill>
                  <a:srgbClr val="000000"/>
                </a:solidFill>
                <a:latin typeface="Canva Sans"/>
                <a:ea typeface="Canva Sans"/>
                <a:cs typeface="Canva Sans"/>
                <a:sym typeface="Canva Sans"/>
              </a:rPr>
              <a:t>.</a:t>
            </a:r>
          </a:p>
          <a:p>
            <a:pPr algn="ctr">
              <a:lnSpc>
                <a:spcPts val="4759"/>
              </a:lnSpc>
            </a:pPr>
            <a:endParaRPr lang="en-US" sz="1800" dirty="0">
              <a:solidFill>
                <a:srgbClr val="000000"/>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07391" y="3912266"/>
            <a:ext cx="13073218" cy="1060931"/>
          </a:xfrm>
          <a:prstGeom prst="rect">
            <a:avLst/>
          </a:prstGeom>
        </p:spPr>
        <p:txBody>
          <a:bodyPr lIns="0" tIns="0" rIns="0" bIns="0" rtlCol="0" anchor="t">
            <a:spAutoFit/>
          </a:bodyPr>
          <a:lstStyle/>
          <a:p>
            <a:pPr algn="ctr">
              <a:lnSpc>
                <a:spcPts val="8152"/>
              </a:lnSpc>
            </a:pPr>
            <a:r>
              <a:rPr lang="en-US" sz="9057" b="1" i="1" u="sng" dirty="0">
                <a:solidFill>
                  <a:srgbClr val="000000"/>
                </a:solidFill>
                <a:latin typeface="Times New Roman" panose="02020603050405020304" pitchFamily="18" charset="0"/>
                <a:ea typeface="Bicubik"/>
                <a:cs typeface="Times New Roman" panose="02020603050405020304" pitchFamily="18" charset="0"/>
                <a:sym typeface="Bicubik"/>
              </a:rPr>
              <a:t>THANK YOU</a:t>
            </a:r>
          </a:p>
        </p:txBody>
      </p:sp>
      <p:sp>
        <p:nvSpPr>
          <p:cNvPr id="3" name="Freeform 3"/>
          <p:cNvSpPr/>
          <p:nvPr/>
        </p:nvSpPr>
        <p:spPr>
          <a:xfrm>
            <a:off x="3740755" y="4091436"/>
            <a:ext cx="781100" cy="781100"/>
          </a:xfrm>
          <a:custGeom>
            <a:avLst/>
            <a:gdLst/>
            <a:ahLst/>
            <a:cxnLst/>
            <a:rect l="l" t="t" r="r" b="b"/>
            <a:pathLst>
              <a:path w="781100" h="781100">
                <a:moveTo>
                  <a:pt x="0" y="0"/>
                </a:moveTo>
                <a:lnTo>
                  <a:pt x="781101" y="0"/>
                </a:lnTo>
                <a:lnTo>
                  <a:pt x="781101" y="781100"/>
                </a:lnTo>
                <a:lnTo>
                  <a:pt x="0" y="7811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3769971" y="4093349"/>
            <a:ext cx="781100" cy="781100"/>
          </a:xfrm>
          <a:custGeom>
            <a:avLst/>
            <a:gdLst/>
            <a:ahLst/>
            <a:cxnLst/>
            <a:rect l="l" t="t" r="r" b="b"/>
            <a:pathLst>
              <a:path w="781100" h="781100">
                <a:moveTo>
                  <a:pt x="0" y="0"/>
                </a:moveTo>
                <a:lnTo>
                  <a:pt x="781100" y="0"/>
                </a:lnTo>
                <a:lnTo>
                  <a:pt x="781100" y="781100"/>
                </a:lnTo>
                <a:lnTo>
                  <a:pt x="0" y="7811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946</Words>
  <Application>Microsoft Office PowerPoint</Application>
  <PresentationFormat>Custom</PresentationFormat>
  <Paragraphs>103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Canva Sans Bold</vt:lpstr>
      <vt:lpstr>Times New Roman</vt:lpstr>
      <vt:lpstr>Canva Sans</vt:lpstr>
      <vt:lpstr>Bicubik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Intelligence &amp; Risk Prediction System</dc:title>
  <dc:creator>hp</dc:creator>
  <cp:lastModifiedBy>Khushboo Jain</cp:lastModifiedBy>
  <cp:revision>6</cp:revision>
  <dcterms:created xsi:type="dcterms:W3CDTF">2006-08-16T00:00:00Z</dcterms:created>
  <dcterms:modified xsi:type="dcterms:W3CDTF">2026-04-23T13:50:31Z</dcterms:modified>
  <dc:identifier>DAHHk3tRDVo</dc:identifier>
</cp:coreProperties>
</file>